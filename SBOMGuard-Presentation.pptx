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89F92"/>
                </a:solidFill>
                <a:latin typeface="Calibri"/>
              </a:defRPr>
            </a:pPr>
            <a:r>
              <a:rPr sz="1200" b="0" i="0" u="none" strike="noStrike">
                <a:solidFill>
                  <a:srgbClr val="A89F92"/>
                </a:solidFill>
                <a:latin typeface="Calibri"/>
              </a:rPr>
              <a:t>To get more recall, you must accept more false positives</a:t>
            </a:r>
          </a:p>
        </c:rich>
      </c:tx>
      <c:layout/>
      <c:overlay val="0"/>
    </c:title>
    <c:autoTitleDeleted val="0"/>
    <c:plotArea>
      <c:layout/>
      <c:lineChart>
        <c:varyColors val="0"/>
        <c:ser>
          <c:idx val="0"/>
          <c:order val="0"/>
          <c:tx>
            <c:strRef>
              <c:f>Sheet1!$B$1</c:f>
              <c:strCache>
                <c:ptCount val="1"/>
                <c:pt idx="0">
                  <c:v>False-positive rate</c:v>
                </c:pt>
              </c:strCache>
            </c:strRef>
          </c:tx>
          <c:spPr>
            <a:solidFill>
              <a:srgbClr val="FF7A3D"/>
            </a:solidFill>
            <a:ln w="38100" cap="flat">
              <a:solidFill>
                <a:srgbClr val="FF7A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7A3D"/>
              </a:solidFill>
              <a:ln w="9525" cap="flat">
                <a:solidFill>
                  <a:srgbClr val="FF7A3D"/>
                </a:solidFill>
                <a:prstDash val="solid"/>
                <a:round/>
              </a:ln>
              <a:effectLst/>
            </c:spPr>
          </c:marker>
          <c:cat>
            <c:multiLvlStrRef>
              <c:f>Sheet1!$A$2:$A$8</c:f>
              <c:multiLvlStrCache>
                <c:ptCount val="7"/>
                <c:lvl>
                  <c:pt idx="0">
                    <c:v>0%</c:v>
                  </c:pt>
                  <c:pt idx="1">
                    <c:v>20%</c:v>
                  </c:pt>
                  <c:pt idx="2">
                    <c:v>40%</c:v>
                  </c:pt>
                  <c:pt idx="3">
                    <c:v>51%</c:v>
                  </c:pt>
                  <c:pt idx="4">
                    <c:v>60%</c:v>
                  </c:pt>
                  <c:pt idx="5">
                    <c:v>85%</c:v>
                  </c:pt>
                  <c:pt idx="6">
                    <c:v>100%</c:v>
                  </c:pt>
                </c:lvl>
              </c:multiLvlStrCache>
            </c:multiLvlStrRef>
          </c:cat>
          <c:val>
            <c:numRef>
              <c:f>Sheet1!$B$2:$B$8</c:f>
              <c:numCache>
                <c:formatCode>General</c:formatCode>
                <c:ptCount val="7"/>
                <c:pt idx="0">
                  <c:v>0</c:v>
                </c:pt>
                <c:pt idx="1">
                  <c:v>7.8</c:v>
                </c:pt>
                <c:pt idx="2">
                  <c:v>15.6</c:v>
                </c:pt>
                <c:pt idx="3">
                  <c:v>20</c:v>
                </c:pt>
                <c:pt idx="4">
                  <c:v>23.4</c:v>
                </c:pt>
                <c:pt idx="5">
                  <c:v>33.2</c:v>
                </c:pt>
                <c:pt idx="6">
                  <c:v>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7E766A"/>
                    </a:solidFill>
                    <a:latin typeface="Arial"/>
                  </a:defRPr>
                </a:pPr>
                <a:r>
                  <a:rPr sz="1100" b="0" i="0" u="none" strike="noStrike">
                    <a:solidFill>
                      <a:srgbClr val="7E766A"/>
                    </a:solidFill>
                    <a:latin typeface="Arial"/>
                  </a:rPr>
                  <a:t>Recall achieved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E766A"/>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12700" cap="flat">
              <a:solidFill>
                <a:srgbClr val="2E2925"/>
              </a:solidFill>
              <a:prstDash val="solid"/>
              <a:round/>
            </a:ln>
          </c:spPr>
        </c:majorGridlines>
        <c:title>
          <c:tx>
            <c:rich>
              <a:bodyPr/>
              <a:lstStyle/>
              <a:p>
                <a:pPr>
                  <a:defRPr sz="1100" b="0" i="0" u="none" strike="noStrike">
                    <a:solidFill>
                      <a:srgbClr val="7E766A"/>
                    </a:solidFill>
                    <a:latin typeface="Arial"/>
                  </a:defRPr>
                </a:pPr>
                <a:r>
                  <a:rPr sz="1100" b="0" i="0" u="none" strike="noStrike">
                    <a:solidFill>
                      <a:srgbClr val="7E766A"/>
                    </a:solidFill>
                    <a:latin typeface="Arial"/>
                  </a:rPr>
                  <a:t>False-positive rate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E76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89F92"/>
                </a:solidFill>
                <a:latin typeface="Calibri"/>
              </a:defRPr>
            </a:pPr>
            <a:r>
              <a:rPr sz="1200" b="0" i="0" u="none" strike="noStrike">
                <a:solidFill>
                  <a:srgbClr val="A89F92"/>
                </a:solidFill>
                <a:latin typeface="Calibri"/>
              </a:rPr>
              <a:t>Criteria met  (5 = target met, low = missed)</a:t>
            </a:r>
          </a:p>
        </c:rich>
      </c:tx>
      <c:layout/>
      <c:overlay val="0"/>
    </c:title>
    <c:autoTitleDeleted val="0"/>
    <c:plotArea>
      <c:layout/>
      <c:barChart>
        <c:barDir val="col"/>
        <c:grouping val="clustered"/>
        <c:varyColors val="0"/>
        <c:ser>
          <c:idx val="0"/>
          <c:order val="0"/>
          <c:tx>
            <c:strRef>
              <c:f>Sheet1!$B$1</c:f>
              <c:strCache>
                <c:ptCount val="1"/>
                <c:pt idx="0">
                  <c:v>Official SG data</c:v>
                </c:pt>
              </c:strCache>
            </c:strRef>
          </c:tx>
          <c:spPr>
            <a:solidFill>
              <a:srgbClr val="FF7A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Vuln detection</c:v>
                  </c:pt>
                  <c:pt idx="1">
                    <c:v>Transitive</c:v>
                  </c:pt>
                  <c:pt idx="2">
                    <c:v>Licence</c:v>
                  </c:pt>
                  <c:pt idx="3">
                    <c:v>False positives</c:v>
                  </c:pt>
                  <c:pt idx="4">
                    <c:v>Risk accuracy</c:v>
                  </c:pt>
                </c:lvl>
              </c:multiLvlStrCache>
            </c:multiLvlStrRef>
          </c:cat>
          <c:val>
            <c:numRef>
              <c:f>Sheet1!$B$2:$B$6</c:f>
              <c:numCache>
                <c:formatCode>General</c:formatCode>
                <c:ptCount val="5"/>
                <c:pt idx="0">
                  <c:v>5</c:v>
                </c:pt>
                <c:pt idx="1">
                  <c:v>5</c:v>
                </c:pt>
                <c:pt idx="2">
                  <c:v>5</c:v>
                </c:pt>
                <c:pt idx="3">
                  <c:v>1</c:v>
                </c:pt>
                <c:pt idx="4">
                  <c:v>2</c:v>
                </c:pt>
              </c:numCache>
            </c:numRef>
          </c:val>
        </c:ser>
        <c:ser>
          <c:idx val="1"/>
          <c:order val="1"/>
          <c:tx>
            <c:strRef>
              <c:f>Sheet1!$C$1</c:f>
              <c:strCache>
                <c:ptCount val="1"/>
                <c:pt idx="0">
                  <c:v>Consistent data</c:v>
                </c:pt>
              </c:strCache>
            </c:strRef>
          </c:tx>
          <c:spPr>
            <a:solidFill>
              <a:srgbClr val="5FCF9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Vuln detection</c:v>
                  </c:pt>
                  <c:pt idx="1">
                    <c:v>Transitive</c:v>
                  </c:pt>
                  <c:pt idx="2">
                    <c:v>Licence</c:v>
                  </c:pt>
                  <c:pt idx="3">
                    <c:v>False positives</c:v>
                  </c:pt>
                  <c:pt idx="4">
                    <c:v>Risk accuracy</c:v>
                  </c:pt>
                </c:lvl>
              </c:multiLvlStrCache>
            </c:multiLvlStrRef>
          </c:cat>
          <c:val>
            <c:numRef>
              <c:f>Sheet1!$C$2:$C$6</c:f>
              <c:numCache>
                <c:formatCode>General</c:formatCode>
                <c:ptCount val="5"/>
                <c:pt idx="0">
                  <c:v>5</c:v>
                </c:pt>
                <c:pt idx="1">
                  <c:v>5</c:v>
                </c:pt>
                <c:pt idx="2">
                  <c:v>5</c:v>
                </c:pt>
                <c:pt idx="3">
                  <c:v>5</c:v>
                </c:pt>
                <c:pt idx="4">
                  <c:v>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7E766A"/>
                </a:solidFill>
                <a:latin typeface="Arial"/>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2E292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E766A"/>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A89F9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December 2021. Log4Shell drops on a Friday. Every security team on earth is asked one question — which of our applications are affected? — and almost none of them can answer it. That question is what this is built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difficulty is not where people assume. Everyone can print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headline verbatim, then stop talking for a beat. This sentence is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is built once at startup and held in memory. That is why the war-room question is answered instantly rather than by a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Licence analysis is a legal question, not a grep: GPL in a non-distributed app is not a violation. AGPL in the same app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removed scroll-to-zoom: it hijacked page scrolling and silently shrank the graph to a smear. A control that fires when you were not aiming at it is not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suppression wrong in either direction destroys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aloud, then stop. This is the strongest thirty seconds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arithmetic, not an excuse. Deliver it as a result, because it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harnesses run live from the Scorecard view in the app. Nothing is precomputed.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slowly. It is the most memorable thing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 of five on clean data. Three of five on data where two of the criteria are provably unsatisfiable. And we refused to ship the estimator that games the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00F"/>
        </a:solidFill>
      </p:bgPr>
    </p:bg>
    <p:spTree>
      <p:nvGrpSpPr>
        <p:cNvPr id="1" name=""/>
        <p:cNvGrpSpPr/>
        <p:nvPr/>
      </p:nvGrpSpPr>
      <p:grpSpPr>
        <a:xfrm>
          <a:off x="0" y="0"/>
          <a:ext cx="0" cy="0"/>
          <a:chOff x="0" y="0"/>
          <a:chExt cx="0" cy="0"/>
        </a:xfrm>
      </p:grpSpPr>
      <p:sp>
        <p:nvSpPr>
          <p:cNvPr id="2" name="Shape 0"/>
          <p:cNvSpPr/>
          <p:nvPr/>
        </p:nvSpPr>
        <p:spPr>
          <a:xfrm>
            <a:off x="-1463040" y="-1737360"/>
            <a:ext cx="5669280" cy="5669280"/>
          </a:xfrm>
          <a:prstGeom prst="ellipse">
            <a:avLst/>
          </a:prstGeom>
          <a:solidFill>
            <a:srgbClr val="FF7A3D">
              <a:alpha val="8000"/>
            </a:srgbClr>
          </a:solidFill>
          <a:ln/>
        </p:spPr>
      </p:sp>
      <p:sp>
        <p:nvSpPr>
          <p:cNvPr id="3" name="Text 1"/>
          <p:cNvSpPr/>
          <p:nvPr/>
        </p:nvSpPr>
        <p:spPr>
          <a:xfrm>
            <a:off x="822960" y="1600200"/>
            <a:ext cx="7680960" cy="914400"/>
          </a:xfrm>
          <a:prstGeom prst="rect">
            <a:avLst/>
          </a:prstGeom>
          <a:noFill/>
          <a:ln/>
        </p:spPr>
        <p:txBody>
          <a:bodyPr wrap="square" lIns="0" tIns="0" rIns="0" bIns="0" rtlCol="0" anchor="ctr"/>
          <a:lstStyle/>
          <a:p>
            <a:pPr indent="0" marL="0">
              <a:buNone/>
            </a:pPr>
            <a:r>
              <a:rPr lang="en-US" sz="5400" b="1" dirty="0">
                <a:solidFill>
                  <a:srgbClr val="F2EEE7"/>
                </a:solidFill>
                <a:latin typeface="Cambria" pitchFamily="34" charset="0"/>
                <a:ea typeface="Cambria" pitchFamily="34" charset="-122"/>
                <a:cs typeface="Cambria" pitchFamily="34" charset="-120"/>
              </a:rPr>
              <a:t>SBOMGuard</a:t>
            </a:r>
            <a:endParaRPr lang="en-US" sz="5400" dirty="0"/>
          </a:p>
        </p:txBody>
      </p:sp>
      <p:sp>
        <p:nvSpPr>
          <p:cNvPr id="4" name="Text 2"/>
          <p:cNvSpPr/>
          <p:nvPr/>
        </p:nvSpPr>
        <p:spPr>
          <a:xfrm>
            <a:off x="822960" y="2606040"/>
            <a:ext cx="8778240" cy="457200"/>
          </a:xfrm>
          <a:prstGeom prst="rect">
            <a:avLst/>
          </a:prstGeom>
          <a:noFill/>
          <a:ln/>
        </p:spPr>
        <p:txBody>
          <a:bodyPr wrap="square" lIns="0" tIns="0" rIns="0" bIns="0" rtlCol="0" anchor="ctr"/>
          <a:lstStyle/>
          <a:p>
            <a:pPr indent="0" marL="0">
              <a:buNone/>
            </a:pPr>
            <a:r>
              <a:rPr lang="en-US" sz="2500" dirty="0">
                <a:solidFill>
                  <a:srgbClr val="A89F92"/>
                </a:solidFill>
                <a:latin typeface="Cambria" pitchFamily="34" charset="0"/>
                <a:ea typeface="Cambria" pitchFamily="34" charset="-122"/>
                <a:cs typeface="Cambria" pitchFamily="34" charset="-120"/>
              </a:rPr>
              <a:t>A critical vulnerability just dropped.</a:t>
            </a:r>
            <a:endParaRPr lang="en-US" sz="2500" dirty="0"/>
          </a:p>
        </p:txBody>
      </p:sp>
      <p:sp>
        <p:nvSpPr>
          <p:cNvPr id="5" name="Text 3"/>
          <p:cNvSpPr/>
          <p:nvPr/>
        </p:nvSpPr>
        <p:spPr>
          <a:xfrm>
            <a:off x="822960" y="3063240"/>
            <a:ext cx="8778240" cy="457200"/>
          </a:xfrm>
          <a:prstGeom prst="rect">
            <a:avLst/>
          </a:prstGeom>
          <a:noFill/>
          <a:ln/>
        </p:spPr>
        <p:txBody>
          <a:bodyPr wrap="square" lIns="0" tIns="0" rIns="0" bIns="0" rtlCol="0" anchor="ctr"/>
          <a:lstStyle/>
          <a:p>
            <a:pPr indent="0" marL="0">
              <a:buNone/>
            </a:pPr>
            <a:r>
              <a:rPr lang="en-US" sz="2500" b="1" dirty="0">
                <a:solidFill>
                  <a:srgbClr val="FF7A3D"/>
                </a:solidFill>
                <a:latin typeface="Cambria" pitchFamily="34" charset="0"/>
                <a:ea typeface="Cambria" pitchFamily="34" charset="-122"/>
                <a:cs typeface="Cambria" pitchFamily="34" charset="-120"/>
              </a:rPr>
              <a:t>Which of our applications are affected?</a:t>
            </a:r>
            <a:endParaRPr lang="en-US" sz="2500" dirty="0"/>
          </a:p>
        </p:txBody>
      </p:sp>
      <p:sp>
        <p:nvSpPr>
          <p:cNvPr id="6" name="Text 4"/>
          <p:cNvSpPr/>
          <p:nvPr/>
        </p:nvSpPr>
        <p:spPr>
          <a:xfrm>
            <a:off x="822960" y="3840480"/>
            <a:ext cx="9052560" cy="731520"/>
          </a:xfrm>
          <a:prstGeom prst="rect">
            <a:avLst/>
          </a:prstGeom>
          <a:noFill/>
          <a:ln/>
        </p:spPr>
        <p:txBody>
          <a:bodyPr wrap="square" lIns="0" tIns="0" rIns="0" bIns="0" rtlCol="0" anchor="ctr"/>
          <a:lstStyle/>
          <a:p>
            <a:pPr indent="0" marL="0">
              <a:lnSpc>
                <a:spcPts val="2200"/>
              </a:lnSpc>
              <a:buNone/>
            </a:pPr>
            <a:r>
              <a:rPr lang="en-US" sz="1400" dirty="0">
                <a:solidFill>
                  <a:srgbClr val="7E766A"/>
                </a:solidFill>
                <a:latin typeface="Calibri" pitchFamily="34" charset="0"/>
                <a:ea typeface="Calibri" pitchFamily="34" charset="-122"/>
                <a:cs typeface="Calibri" pitchFamily="34" charset="-120"/>
              </a:rPr>
              <a:t>Almost no organisation can answer that quickly — not because the flaw is hard to understand,</a:t>
            </a:r>
            <a:endParaRPr lang="en-US" sz="1400" dirty="0"/>
          </a:p>
          <a:p>
            <a:pPr indent="0" marL="0">
              <a:lnSpc>
                <a:spcPts val="2200"/>
              </a:lnSpc>
              <a:buNone/>
            </a:pPr>
            <a:r>
              <a:rPr lang="en-US" sz="1400" dirty="0">
                <a:solidFill>
                  <a:srgbClr val="7E766A"/>
                </a:solidFill>
                <a:latin typeface="Calibri" pitchFamily="34" charset="0"/>
                <a:ea typeface="Calibri" pitchFamily="34" charset="-122"/>
                <a:cs typeface="Calibri" pitchFamily="34" charset="-120"/>
              </a:rPr>
              <a:t>but because nobody knows what is actually inside their own software.</a:t>
            </a:r>
            <a:endParaRPr lang="en-US" sz="1400" dirty="0"/>
          </a:p>
        </p:txBody>
      </p:sp>
      <p:sp>
        <p:nvSpPr>
          <p:cNvPr id="7" name="Text 5"/>
          <p:cNvSpPr/>
          <p:nvPr/>
        </p:nvSpPr>
        <p:spPr>
          <a:xfrm>
            <a:off x="822960" y="5440680"/>
            <a:ext cx="10515600" cy="274320"/>
          </a:xfrm>
          <a:prstGeom prst="rect">
            <a:avLst/>
          </a:prstGeom>
          <a:noFill/>
          <a:ln/>
        </p:spPr>
        <p:txBody>
          <a:bodyPr wrap="square" lIns="0" tIns="0" rIns="0" bIns="0" rtlCol="0" anchor="ctr"/>
          <a:lstStyle/>
          <a:p>
            <a:pPr indent="0" marL="0">
              <a:buNone/>
            </a:pPr>
            <a:r>
              <a:rPr lang="en-US" sz="1200" dirty="0">
                <a:solidFill>
                  <a:srgbClr val="7E766A"/>
                </a:solidFill>
                <a:latin typeface="Calibri" pitchFamily="34" charset="0"/>
                <a:ea typeface="Calibri" pitchFamily="34" charset="-122"/>
                <a:cs typeface="Calibri" pitchFamily="34" charset="-120"/>
              </a:rPr>
              <a:t>Société Générale GRC Hackathon  ·  PB-10  ·  Software Supply Chain Risk Analyzer</a:t>
            </a:r>
            <a:endParaRPr lang="en-US" sz="1200" dirty="0"/>
          </a:p>
        </p:txBody>
      </p:sp>
      <p:sp>
        <p:nvSpPr>
          <p:cNvPr id="8" name="Text 6"/>
          <p:cNvSpPr/>
          <p:nvPr/>
        </p:nvSpPr>
        <p:spPr>
          <a:xfrm>
            <a:off x="822960" y="5870448"/>
            <a:ext cx="1828800" cy="256032"/>
          </a:xfrm>
          <a:prstGeom prst="rect">
            <a:avLst/>
          </a:prstGeom>
          <a:noFill/>
          <a:ln/>
        </p:spPr>
        <p:txBody>
          <a:bodyPr wrap="square" lIns="0" tIns="0" rIns="0" bIns="0" rtlCol="0" anchor="ctr"/>
          <a:lstStyle/>
          <a:p>
            <a:pPr indent="0" marL="0">
              <a:buNone/>
            </a:pPr>
            <a:r>
              <a:rPr lang="en-US" sz="1000" b="1" spc="200" kern="0" dirty="0">
                <a:solidFill>
                  <a:srgbClr val="7E766A"/>
                </a:solidFill>
                <a:latin typeface="Calibri" pitchFamily="34" charset="0"/>
                <a:ea typeface="Calibri" pitchFamily="34" charset="-122"/>
                <a:cs typeface="Calibri" pitchFamily="34" charset="-120"/>
              </a:rPr>
              <a:t>SUBMITTED BY</a:t>
            </a:r>
            <a:endParaRPr lang="en-US" sz="1000" dirty="0"/>
          </a:p>
        </p:txBody>
      </p:sp>
      <p:sp>
        <p:nvSpPr>
          <p:cNvPr id="9" name="Text 7"/>
          <p:cNvSpPr/>
          <p:nvPr/>
        </p:nvSpPr>
        <p:spPr>
          <a:xfrm>
            <a:off x="822960" y="6144768"/>
            <a:ext cx="7863840" cy="274320"/>
          </a:xfrm>
          <a:prstGeom prst="rect">
            <a:avLst/>
          </a:prstGeom>
          <a:noFill/>
          <a:ln/>
        </p:spPr>
        <p:txBody>
          <a:bodyPr wrap="square" lIns="0" tIns="0" rIns="0" bIns="0" rtlCol="0" anchor="ctr"/>
          <a:lstStyle/>
          <a:p>
            <a:pPr indent="0" marL="0">
              <a:buNone/>
            </a:pPr>
            <a:r>
              <a:rPr lang="en-US" sz="1300" b="1" dirty="0">
                <a:solidFill>
                  <a:srgbClr val="F2EEE7"/>
                </a:solidFill>
                <a:latin typeface="Calibri" pitchFamily="34" charset="0"/>
                <a:ea typeface="Calibri" pitchFamily="34" charset="-122"/>
                <a:cs typeface="Calibri" pitchFamily="34" charset="-120"/>
              </a:rPr>
              <a:t>Harish HJ  (23PC19)        S Murali Krishna  (23PC31)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Listing an SBOM is easy. That is not the problem.</a:t>
            </a:r>
            <a:endParaRPr lang="en-US" sz="3400" dirty="0"/>
          </a:p>
        </p:txBody>
      </p:sp>
      <p:sp>
        <p:nvSpPr>
          <p:cNvPr id="4" name="Shape 2"/>
          <p:cNvSpPr/>
          <p:nvPr/>
        </p:nvSpPr>
        <p:spPr>
          <a:xfrm>
            <a:off x="548640" y="1691640"/>
            <a:ext cx="11064240" cy="1280160"/>
          </a:xfrm>
          <a:prstGeom prst="roundRect">
            <a:avLst>
              <a:gd name="adj" fmla="val 5714"/>
            </a:avLst>
          </a:prstGeom>
          <a:solidFill>
            <a:srgbClr val="1C1917"/>
          </a:solidFill>
          <a:ln/>
        </p:spPr>
      </p:sp>
      <p:sp>
        <p:nvSpPr>
          <p:cNvPr id="5" name="Shape 3"/>
          <p:cNvSpPr/>
          <p:nvPr/>
        </p:nvSpPr>
        <p:spPr>
          <a:xfrm>
            <a:off x="868680" y="1947672"/>
            <a:ext cx="420624" cy="420624"/>
          </a:xfrm>
          <a:prstGeom prst="ellipse">
            <a:avLst/>
          </a:prstGeom>
          <a:solidFill>
            <a:srgbClr val="FF7A3D"/>
          </a:solidFill>
          <a:ln/>
        </p:spPr>
      </p:sp>
      <p:sp>
        <p:nvSpPr>
          <p:cNvPr id="6" name="Text 4"/>
          <p:cNvSpPr/>
          <p:nvPr/>
        </p:nvSpPr>
        <p:spPr>
          <a:xfrm>
            <a:off x="868680" y="1947672"/>
            <a:ext cx="420624" cy="420624"/>
          </a:xfrm>
          <a:prstGeom prst="rect">
            <a:avLst/>
          </a:prstGeom>
          <a:noFill/>
          <a:ln/>
        </p:spPr>
        <p:txBody>
          <a:bodyPr wrap="square" lIns="0" tIns="0" rIns="0" bIns="0" rtlCol="0" anchor="ctr"/>
          <a:lstStyle/>
          <a:p>
            <a:pPr algn="ctr" indent="0" marL="0">
              <a:buNone/>
            </a:pPr>
            <a:r>
              <a:rPr lang="en-US" sz="1300" b="1" dirty="0">
                <a:solidFill>
                  <a:srgbClr val="2A1405"/>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63040" y="1856232"/>
            <a:ext cx="9875520" cy="310896"/>
          </a:xfrm>
          <a:prstGeom prst="rect">
            <a:avLst/>
          </a:prstGeom>
          <a:noFill/>
          <a:ln/>
        </p:spPr>
        <p:txBody>
          <a:bodyPr wrap="square" lIns="0" tIns="0" rIns="0" bIns="0" rtlCol="0" anchor="ctr"/>
          <a:lstStyle/>
          <a:p>
            <a:pPr indent="0" marL="0">
              <a:buNone/>
            </a:pPr>
            <a:r>
              <a:rPr lang="en-US" sz="1600" b="1" dirty="0">
                <a:solidFill>
                  <a:srgbClr val="F2EEE7"/>
                </a:solidFill>
                <a:latin typeface="Calibri" pitchFamily="34" charset="0"/>
                <a:ea typeface="Calibri" pitchFamily="34" charset="-122"/>
                <a:cs typeface="Calibri" pitchFamily="34" charset="-120"/>
              </a:rPr>
              <a:t>Reachability, not presence</a:t>
            </a:r>
            <a:endParaRPr lang="en-US" sz="1600" dirty="0"/>
          </a:p>
        </p:txBody>
      </p:sp>
      <p:sp>
        <p:nvSpPr>
          <p:cNvPr id="8" name="Text 6"/>
          <p:cNvSpPr/>
          <p:nvPr/>
        </p:nvSpPr>
        <p:spPr>
          <a:xfrm>
            <a:off x="1463040" y="2194560"/>
            <a:ext cx="9875520" cy="640080"/>
          </a:xfrm>
          <a:prstGeom prst="rect">
            <a:avLst/>
          </a:prstGeom>
          <a:noFill/>
          <a:ln/>
        </p:spPr>
        <p:txBody>
          <a:bodyPr wrap="square" lIns="0" tIns="0" rIns="0" bIns="0" rtlCol="0" anchor="ctr"/>
          <a:lstStyle/>
          <a:p>
            <a:pPr indent="0" marL="0">
              <a:lnSpc>
                <a:spcPts val="1700"/>
              </a:lnSpc>
              <a:buNone/>
            </a:pPr>
            <a:r>
              <a:rPr lang="en-US" sz="1250" dirty="0">
                <a:solidFill>
                  <a:srgbClr val="A89F92"/>
                </a:solidFill>
                <a:latin typeface="Calibri" pitchFamily="34" charset="0"/>
                <a:ea typeface="Calibri" pitchFamily="34" charset="-122"/>
                <a:cs typeface="Calibri" pitchFamily="34" charset="-120"/>
              </a:rPr>
              <a:t>A CVE in your dependency file is not a vulnerability in your product. It matters only if it is reachable — and reachability is a property of the GRAPH, not of the list.</a:t>
            </a:r>
            <a:endParaRPr lang="en-US" sz="1250" dirty="0"/>
          </a:p>
        </p:txBody>
      </p:sp>
      <p:sp>
        <p:nvSpPr>
          <p:cNvPr id="9" name="Shape 7"/>
          <p:cNvSpPr/>
          <p:nvPr/>
        </p:nvSpPr>
        <p:spPr>
          <a:xfrm>
            <a:off x="548640" y="3172968"/>
            <a:ext cx="11064240" cy="1280160"/>
          </a:xfrm>
          <a:prstGeom prst="roundRect">
            <a:avLst>
              <a:gd name="adj" fmla="val 5714"/>
            </a:avLst>
          </a:prstGeom>
          <a:solidFill>
            <a:srgbClr val="1C1917"/>
          </a:solidFill>
          <a:ln/>
        </p:spPr>
      </p:sp>
      <p:sp>
        <p:nvSpPr>
          <p:cNvPr id="10" name="Shape 8"/>
          <p:cNvSpPr/>
          <p:nvPr/>
        </p:nvSpPr>
        <p:spPr>
          <a:xfrm>
            <a:off x="868680" y="3429000"/>
            <a:ext cx="420624" cy="420624"/>
          </a:xfrm>
          <a:prstGeom prst="ellipse">
            <a:avLst/>
          </a:prstGeom>
          <a:solidFill>
            <a:srgbClr val="FF5D5D"/>
          </a:solidFill>
          <a:ln/>
        </p:spPr>
      </p:sp>
      <p:sp>
        <p:nvSpPr>
          <p:cNvPr id="11" name="Text 9"/>
          <p:cNvSpPr/>
          <p:nvPr/>
        </p:nvSpPr>
        <p:spPr>
          <a:xfrm>
            <a:off x="868680" y="3429000"/>
            <a:ext cx="420624" cy="420624"/>
          </a:xfrm>
          <a:prstGeom prst="rect">
            <a:avLst/>
          </a:prstGeom>
          <a:noFill/>
          <a:ln/>
        </p:spPr>
        <p:txBody>
          <a:bodyPr wrap="square" lIns="0" tIns="0" rIns="0" bIns="0" rtlCol="0" anchor="ctr"/>
          <a:lstStyle/>
          <a:p>
            <a:pPr algn="ctr" indent="0" marL="0">
              <a:buNone/>
            </a:pPr>
            <a:r>
              <a:rPr lang="en-US" sz="1300" b="1" dirty="0">
                <a:solidFill>
                  <a:srgbClr val="2A1405"/>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463040" y="3337560"/>
            <a:ext cx="9875520" cy="310896"/>
          </a:xfrm>
          <a:prstGeom prst="rect">
            <a:avLst/>
          </a:prstGeom>
          <a:noFill/>
          <a:ln/>
        </p:spPr>
        <p:txBody>
          <a:bodyPr wrap="square" lIns="0" tIns="0" rIns="0" bIns="0" rtlCol="0" anchor="ctr"/>
          <a:lstStyle/>
          <a:p>
            <a:pPr indent="0" marL="0">
              <a:buNone/>
            </a:pPr>
            <a:r>
              <a:rPr lang="en-US" sz="1600" b="1" dirty="0">
                <a:solidFill>
                  <a:srgbClr val="F2EEE7"/>
                </a:solidFill>
                <a:latin typeface="Calibri" pitchFamily="34" charset="0"/>
                <a:ea typeface="Calibri" pitchFamily="34" charset="-122"/>
                <a:cs typeface="Calibri" pitchFamily="34" charset="-120"/>
              </a:rPr>
              <a:t>The thing nobody chose</a:t>
            </a:r>
            <a:endParaRPr lang="en-US" sz="1600" dirty="0"/>
          </a:p>
        </p:txBody>
      </p:sp>
      <p:sp>
        <p:nvSpPr>
          <p:cNvPr id="13" name="Text 11"/>
          <p:cNvSpPr/>
          <p:nvPr/>
        </p:nvSpPr>
        <p:spPr>
          <a:xfrm>
            <a:off x="1463040" y="3675888"/>
            <a:ext cx="9875520" cy="640080"/>
          </a:xfrm>
          <a:prstGeom prst="rect">
            <a:avLst/>
          </a:prstGeom>
          <a:noFill/>
          <a:ln/>
        </p:spPr>
        <p:txBody>
          <a:bodyPr wrap="square" lIns="0" tIns="0" rIns="0" bIns="0" rtlCol="0" anchor="ctr"/>
          <a:lstStyle/>
          <a:p>
            <a:pPr indent="0" marL="0">
              <a:lnSpc>
                <a:spcPts val="1700"/>
              </a:lnSpc>
              <a:buNone/>
            </a:pPr>
            <a:r>
              <a:rPr lang="en-US" sz="1250" dirty="0">
                <a:solidFill>
                  <a:srgbClr val="A89F92"/>
                </a:solidFill>
                <a:latin typeface="Calibri" pitchFamily="34" charset="0"/>
                <a:ea typeface="Calibri" pitchFamily="34" charset="-122"/>
                <a:cs typeface="Calibri" pitchFamily="34" charset="-120"/>
              </a:rPr>
              <a:t>96 of our 500 components carry a transitive vulnerability. Those teams could audit every dependency they deliberately added, come up clean, and still be exposed.</a:t>
            </a:r>
            <a:endParaRPr lang="en-US" sz="1250" dirty="0"/>
          </a:p>
        </p:txBody>
      </p:sp>
      <p:sp>
        <p:nvSpPr>
          <p:cNvPr id="14" name="Shape 12"/>
          <p:cNvSpPr/>
          <p:nvPr/>
        </p:nvSpPr>
        <p:spPr>
          <a:xfrm>
            <a:off x="548640" y="4654296"/>
            <a:ext cx="11064240" cy="1280160"/>
          </a:xfrm>
          <a:prstGeom prst="roundRect">
            <a:avLst>
              <a:gd name="adj" fmla="val 5714"/>
            </a:avLst>
          </a:prstGeom>
          <a:solidFill>
            <a:srgbClr val="1C1917"/>
          </a:solidFill>
          <a:ln/>
        </p:spPr>
      </p:sp>
      <p:sp>
        <p:nvSpPr>
          <p:cNvPr id="15" name="Shape 13"/>
          <p:cNvSpPr/>
          <p:nvPr/>
        </p:nvSpPr>
        <p:spPr>
          <a:xfrm>
            <a:off x="868680" y="4910328"/>
            <a:ext cx="420624" cy="420624"/>
          </a:xfrm>
          <a:prstGeom prst="ellipse">
            <a:avLst/>
          </a:prstGeom>
          <a:solidFill>
            <a:srgbClr val="FFC46B"/>
          </a:solidFill>
          <a:ln/>
        </p:spPr>
      </p:sp>
      <p:sp>
        <p:nvSpPr>
          <p:cNvPr id="16" name="Text 14"/>
          <p:cNvSpPr/>
          <p:nvPr/>
        </p:nvSpPr>
        <p:spPr>
          <a:xfrm>
            <a:off x="868680" y="4910328"/>
            <a:ext cx="420624" cy="420624"/>
          </a:xfrm>
          <a:prstGeom prst="rect">
            <a:avLst/>
          </a:prstGeom>
          <a:noFill/>
          <a:ln/>
        </p:spPr>
        <p:txBody>
          <a:bodyPr wrap="square" lIns="0" tIns="0" rIns="0" bIns="0" rtlCol="0" anchor="ctr"/>
          <a:lstStyle/>
          <a:p>
            <a:pPr algn="ctr" indent="0" marL="0">
              <a:buNone/>
            </a:pPr>
            <a:r>
              <a:rPr lang="en-US" sz="1300" b="1" dirty="0">
                <a:solidFill>
                  <a:srgbClr val="2A1405"/>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63040" y="4818888"/>
            <a:ext cx="9875520" cy="310896"/>
          </a:xfrm>
          <a:prstGeom prst="rect">
            <a:avLst/>
          </a:prstGeom>
          <a:noFill/>
          <a:ln/>
        </p:spPr>
        <p:txBody>
          <a:bodyPr wrap="square" lIns="0" tIns="0" rIns="0" bIns="0" rtlCol="0" anchor="ctr"/>
          <a:lstStyle/>
          <a:p>
            <a:pPr indent="0" marL="0">
              <a:buNone/>
            </a:pPr>
            <a:r>
              <a:rPr lang="en-US" sz="1600" b="1" dirty="0">
                <a:solidFill>
                  <a:srgbClr val="F2EEE7"/>
                </a:solidFill>
                <a:latin typeface="Calibri" pitchFamily="34" charset="0"/>
                <a:ea typeface="Calibri" pitchFamily="34" charset="-122"/>
                <a:cs typeface="Calibri" pitchFamily="34" charset="-120"/>
              </a:rPr>
              <a:t>Suppression is the hard half</a:t>
            </a:r>
            <a:endParaRPr lang="en-US" sz="1600" dirty="0"/>
          </a:p>
        </p:txBody>
      </p:sp>
      <p:sp>
        <p:nvSpPr>
          <p:cNvPr id="18" name="Text 16"/>
          <p:cNvSpPr/>
          <p:nvPr/>
        </p:nvSpPr>
        <p:spPr>
          <a:xfrm>
            <a:off x="1463040" y="5157216"/>
            <a:ext cx="9875520" cy="640080"/>
          </a:xfrm>
          <a:prstGeom prst="rect">
            <a:avLst/>
          </a:prstGeom>
          <a:noFill/>
          <a:ln/>
        </p:spPr>
        <p:txBody>
          <a:bodyPr wrap="square" lIns="0" tIns="0" rIns="0" bIns="0" rtlCol="0" anchor="ctr"/>
          <a:lstStyle/>
          <a:p>
            <a:pPr indent="0" marL="0">
              <a:lnSpc>
                <a:spcPts val="1700"/>
              </a:lnSpc>
              <a:buNone/>
            </a:pPr>
            <a:r>
              <a:rPr lang="en-US" sz="1250" dirty="0">
                <a:solidFill>
                  <a:srgbClr val="A89F92"/>
                </a:solidFill>
                <a:latin typeface="Calibri" pitchFamily="34" charset="0"/>
                <a:ea typeface="Calibri" pitchFamily="34" charset="-122"/>
                <a:cs typeface="Calibri" pitchFamily="34" charset="-120"/>
              </a:rPr>
              <a:t>Finding CVEs is arithmetic. Deciding which ones a human should spend Tuesday on is the job. A scanner that cries wolf gets switched off — worse than no scanner.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WHAT IT DOES</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It answers the question. In 0.08 milliseconds.</a:t>
            </a:r>
            <a:endParaRPr lang="en-US" sz="3400" dirty="0"/>
          </a:p>
        </p:txBody>
      </p:sp>
      <p:sp>
        <p:nvSpPr>
          <p:cNvPr id="4" name="Shape 2"/>
          <p:cNvSpPr/>
          <p:nvPr/>
        </p:nvSpPr>
        <p:spPr>
          <a:xfrm>
            <a:off x="548640" y="1691640"/>
            <a:ext cx="11064240" cy="1783080"/>
          </a:xfrm>
          <a:prstGeom prst="roundRect">
            <a:avLst>
              <a:gd name="adj" fmla="val 4103"/>
            </a:avLst>
          </a:prstGeom>
          <a:solidFill>
            <a:srgbClr val="272220"/>
          </a:solidFill>
          <a:ln/>
        </p:spPr>
      </p:sp>
      <p:sp>
        <p:nvSpPr>
          <p:cNvPr id="5" name="Text 3"/>
          <p:cNvSpPr/>
          <p:nvPr/>
        </p:nvSpPr>
        <p:spPr>
          <a:xfrm>
            <a:off x="914400" y="1901952"/>
            <a:ext cx="3657600" cy="320040"/>
          </a:xfrm>
          <a:prstGeom prst="rect">
            <a:avLst/>
          </a:prstGeom>
          <a:noFill/>
          <a:ln/>
        </p:spPr>
        <p:txBody>
          <a:bodyPr wrap="square" lIns="0" tIns="0" rIns="0" bIns="0" rtlCol="0" anchor="ctr"/>
          <a:lstStyle/>
          <a:p>
            <a:pPr indent="0" marL="0">
              <a:buNone/>
            </a:pPr>
            <a:r>
              <a:rPr lang="en-US" sz="1400" b="1" dirty="0">
                <a:solidFill>
                  <a:srgbClr val="FFC46B"/>
                </a:solidFill>
                <a:latin typeface="Courier New" pitchFamily="34" charset="0"/>
                <a:ea typeface="Courier New" pitchFamily="34" charset="-122"/>
                <a:cs typeface="Courier New" pitchFamily="34" charset="-120"/>
              </a:rPr>
              <a:t>CVE-2024-1060</a:t>
            </a:r>
            <a:endParaRPr lang="en-US" sz="1400" dirty="0"/>
          </a:p>
        </p:txBody>
      </p:sp>
      <p:sp>
        <p:nvSpPr>
          <p:cNvPr id="6" name="Text 4"/>
          <p:cNvSpPr/>
          <p:nvPr/>
        </p:nvSpPr>
        <p:spPr>
          <a:xfrm>
            <a:off x="914400" y="2286000"/>
            <a:ext cx="10332720" cy="1005840"/>
          </a:xfrm>
          <a:prstGeom prst="rect">
            <a:avLst/>
          </a:prstGeom>
          <a:noFill/>
          <a:ln/>
        </p:spPr>
        <p:txBody>
          <a:bodyPr wrap="square" lIns="0" tIns="0" rIns="0" bIns="0" rtlCol="0" anchor="ctr"/>
          <a:lstStyle/>
          <a:p>
            <a:pPr indent="0" marL="0">
              <a:lnSpc>
                <a:spcPts val="2500"/>
              </a:lnSpc>
              <a:buNone/>
            </a:pPr>
            <a:r>
              <a:rPr lang="en-US" sz="1600" dirty="0">
                <a:solidFill>
                  <a:srgbClr val="F2EEE7"/>
                </a:solidFill>
                <a:latin typeface="Cambria" pitchFamily="34" charset="0"/>
                <a:ea typeface="Cambria" pitchFamily="34" charset="-122"/>
                <a:cs typeface="Cambria" pitchFamily="34" charset="-120"/>
              </a:rPr>
              <a:t>“6 of 10 applications are affected. 1 of them is exposed ONLY through transitive</a:t>
            </a:r>
            <a:endParaRPr lang="en-US" sz="1600" dirty="0"/>
          </a:p>
          <a:p>
            <a:pPr indent="0" marL="0">
              <a:lnSpc>
                <a:spcPts val="2500"/>
              </a:lnSpc>
              <a:buNone/>
            </a:pPr>
            <a:r>
              <a:rPr lang="en-US" sz="1600" dirty="0">
                <a:solidFill>
                  <a:srgbClr val="F2EEE7"/>
                </a:solidFill>
                <a:latin typeface="Cambria" pitchFamily="34" charset="0"/>
                <a:ea typeface="Cambria" pitchFamily="34" charset="-122"/>
                <a:cs typeface="Cambria" pitchFamily="34" charset="-120"/>
              </a:rPr>
              <a:t>dependencies — no engineer on those teams ever chose this library, and no review of</a:t>
            </a:r>
            <a:endParaRPr lang="en-US" sz="1600" dirty="0"/>
          </a:p>
          <a:p>
            <a:pPr indent="0" marL="0">
              <a:lnSpc>
                <a:spcPts val="2500"/>
              </a:lnSpc>
              <a:buNone/>
            </a:pPr>
            <a:r>
              <a:rPr lang="en-US" sz="1600" dirty="0">
                <a:solidFill>
                  <a:srgbClr val="F2EEE7"/>
                </a:solidFill>
                <a:latin typeface="Cambria" pitchFamily="34" charset="0"/>
                <a:ea typeface="Cambria" pitchFamily="34" charset="-122"/>
                <a:cs typeface="Cambria" pitchFamily="34" charset="-120"/>
              </a:rPr>
              <a:t>direct dependencies would have found it.”</a:t>
            </a:r>
            <a:endParaRPr lang="en-US" sz="1600" dirty="0"/>
          </a:p>
        </p:txBody>
      </p:sp>
      <p:sp>
        <p:nvSpPr>
          <p:cNvPr id="7" name="Text 5"/>
          <p:cNvSpPr/>
          <p:nvPr/>
        </p:nvSpPr>
        <p:spPr>
          <a:xfrm>
            <a:off x="548640" y="3657600"/>
            <a:ext cx="11064240" cy="320040"/>
          </a:xfrm>
          <a:prstGeom prst="rect">
            <a:avLst/>
          </a:prstGeom>
          <a:noFill/>
          <a:ln/>
        </p:spPr>
        <p:txBody>
          <a:bodyPr wrap="square" lIns="0" tIns="0" rIns="0" bIns="0" rtlCol="0" anchor="ctr"/>
          <a:lstStyle/>
          <a:p>
            <a:pPr indent="0" marL="0">
              <a:buNone/>
            </a:pPr>
            <a:r>
              <a:rPr lang="en-US" sz="1400" i="1" dirty="0">
                <a:solidFill>
                  <a:srgbClr val="FF7A3D"/>
                </a:solidFill>
                <a:latin typeface="Calibri" pitchFamily="34" charset="0"/>
                <a:ea typeface="Calibri" pitchFamily="34" charset="-122"/>
                <a:cs typeface="Calibri" pitchFamily="34" charset="-120"/>
              </a:rPr>
              <a:t>That last clause is the whole problem. A list cannot tell you this. Only a graph can.</a:t>
            </a:r>
            <a:endParaRPr lang="en-US" sz="1400" dirty="0"/>
          </a:p>
        </p:txBody>
      </p:sp>
      <p:sp>
        <p:nvSpPr>
          <p:cNvPr id="8" name="Shape 6"/>
          <p:cNvSpPr/>
          <p:nvPr/>
        </p:nvSpPr>
        <p:spPr>
          <a:xfrm>
            <a:off x="548640" y="4251960"/>
            <a:ext cx="2615184" cy="1371600"/>
          </a:xfrm>
          <a:prstGeom prst="roundRect">
            <a:avLst>
              <a:gd name="adj" fmla="val 5333"/>
            </a:avLst>
          </a:prstGeom>
          <a:solidFill>
            <a:srgbClr val="1C1917"/>
          </a:solidFill>
          <a:ln/>
        </p:spPr>
      </p:sp>
      <p:sp>
        <p:nvSpPr>
          <p:cNvPr id="9" name="Text 7"/>
          <p:cNvSpPr/>
          <p:nvPr/>
        </p:nvSpPr>
        <p:spPr>
          <a:xfrm>
            <a:off x="548640" y="4407408"/>
            <a:ext cx="2615184" cy="566928"/>
          </a:xfrm>
          <a:prstGeom prst="rect">
            <a:avLst/>
          </a:prstGeom>
          <a:noFill/>
          <a:ln/>
        </p:spPr>
        <p:txBody>
          <a:bodyPr wrap="square" lIns="0" tIns="0" rIns="0" bIns="0" rtlCol="0" anchor="ctr"/>
          <a:lstStyle/>
          <a:p>
            <a:pPr algn="ctr" indent="0" marL="0">
              <a:buNone/>
            </a:pPr>
            <a:r>
              <a:rPr lang="en-US" sz="3200" b="1" dirty="0">
                <a:solidFill>
                  <a:srgbClr val="F2EEE7"/>
                </a:solidFill>
                <a:latin typeface="Cambria" pitchFamily="34" charset="0"/>
                <a:ea typeface="Cambria" pitchFamily="34" charset="-122"/>
                <a:cs typeface="Cambria" pitchFamily="34" charset="-120"/>
              </a:rPr>
              <a:t>500</a:t>
            </a:r>
            <a:endParaRPr lang="en-US" sz="3200" dirty="0"/>
          </a:p>
        </p:txBody>
      </p:sp>
      <p:sp>
        <p:nvSpPr>
          <p:cNvPr id="10" name="Text 8"/>
          <p:cNvSpPr/>
          <p:nvPr/>
        </p:nvSpPr>
        <p:spPr>
          <a:xfrm>
            <a:off x="548640" y="5029200"/>
            <a:ext cx="2615184" cy="256032"/>
          </a:xfrm>
          <a:prstGeom prst="rect">
            <a:avLst/>
          </a:prstGeom>
          <a:noFill/>
          <a:ln/>
        </p:spPr>
        <p:txBody>
          <a:bodyPr wrap="square" lIns="0" tIns="0" rIns="0" bIns="0" rtlCol="0" anchor="ctr"/>
          <a:lstStyle/>
          <a:p>
            <a:pPr algn="ctr" indent="0" marL="0">
              <a:buNone/>
            </a:pPr>
            <a:r>
              <a:rPr lang="en-US" sz="1000" b="1" spc="100" kern="0" dirty="0">
                <a:solidFill>
                  <a:srgbClr val="7E766A"/>
                </a:solidFill>
                <a:latin typeface="Calibri" pitchFamily="34" charset="0"/>
                <a:ea typeface="Calibri" pitchFamily="34" charset="-122"/>
                <a:cs typeface="Calibri" pitchFamily="34" charset="-120"/>
              </a:rPr>
              <a:t>COMPONENTS</a:t>
            </a:r>
            <a:endParaRPr lang="en-US" sz="1000" dirty="0"/>
          </a:p>
        </p:txBody>
      </p:sp>
      <p:sp>
        <p:nvSpPr>
          <p:cNvPr id="11" name="Shape 9"/>
          <p:cNvSpPr/>
          <p:nvPr/>
        </p:nvSpPr>
        <p:spPr>
          <a:xfrm>
            <a:off x="3346704" y="4251960"/>
            <a:ext cx="2615184" cy="1371600"/>
          </a:xfrm>
          <a:prstGeom prst="roundRect">
            <a:avLst>
              <a:gd name="adj" fmla="val 5333"/>
            </a:avLst>
          </a:prstGeom>
          <a:solidFill>
            <a:srgbClr val="1C1917"/>
          </a:solidFill>
          <a:ln/>
        </p:spPr>
      </p:sp>
      <p:sp>
        <p:nvSpPr>
          <p:cNvPr id="12" name="Text 10"/>
          <p:cNvSpPr/>
          <p:nvPr/>
        </p:nvSpPr>
        <p:spPr>
          <a:xfrm>
            <a:off x="3346704" y="4407408"/>
            <a:ext cx="2615184" cy="566928"/>
          </a:xfrm>
          <a:prstGeom prst="rect">
            <a:avLst/>
          </a:prstGeom>
          <a:noFill/>
          <a:ln/>
        </p:spPr>
        <p:txBody>
          <a:bodyPr wrap="square" lIns="0" tIns="0" rIns="0" bIns="0" rtlCol="0" anchor="ctr"/>
          <a:lstStyle/>
          <a:p>
            <a:pPr algn="ctr" indent="0" marL="0">
              <a:buNone/>
            </a:pPr>
            <a:r>
              <a:rPr lang="en-US" sz="3200" b="1" dirty="0">
                <a:solidFill>
                  <a:srgbClr val="FF5D5D"/>
                </a:solidFill>
                <a:latin typeface="Cambria" pitchFamily="34" charset="0"/>
                <a:ea typeface="Cambria" pitchFamily="34" charset="-122"/>
                <a:cs typeface="Cambria" pitchFamily="34" charset="-120"/>
              </a:rPr>
              <a:t>347</a:t>
            </a:r>
            <a:endParaRPr lang="en-US" sz="3200" dirty="0"/>
          </a:p>
        </p:txBody>
      </p:sp>
      <p:sp>
        <p:nvSpPr>
          <p:cNvPr id="13" name="Text 11"/>
          <p:cNvSpPr/>
          <p:nvPr/>
        </p:nvSpPr>
        <p:spPr>
          <a:xfrm>
            <a:off x="3346704" y="5029200"/>
            <a:ext cx="2615184" cy="256032"/>
          </a:xfrm>
          <a:prstGeom prst="rect">
            <a:avLst/>
          </a:prstGeom>
          <a:noFill/>
          <a:ln/>
        </p:spPr>
        <p:txBody>
          <a:bodyPr wrap="square" lIns="0" tIns="0" rIns="0" bIns="0" rtlCol="0" anchor="ctr"/>
          <a:lstStyle/>
          <a:p>
            <a:pPr algn="ctr" indent="0" marL="0">
              <a:buNone/>
            </a:pPr>
            <a:r>
              <a:rPr lang="en-US" sz="1000" b="1" spc="100" kern="0" dirty="0">
                <a:solidFill>
                  <a:srgbClr val="7E766A"/>
                </a:solidFill>
                <a:latin typeface="Calibri" pitchFamily="34" charset="0"/>
                <a:ea typeface="Calibri" pitchFamily="34" charset="-122"/>
                <a:cs typeface="Calibri" pitchFamily="34" charset="-120"/>
              </a:rPr>
              <a:t>AT RISK</a:t>
            </a:r>
            <a:endParaRPr lang="en-US" sz="1000" dirty="0"/>
          </a:p>
        </p:txBody>
      </p:sp>
      <p:sp>
        <p:nvSpPr>
          <p:cNvPr id="14" name="Shape 12"/>
          <p:cNvSpPr/>
          <p:nvPr/>
        </p:nvSpPr>
        <p:spPr>
          <a:xfrm>
            <a:off x="6144768" y="4251960"/>
            <a:ext cx="2615184" cy="1371600"/>
          </a:xfrm>
          <a:prstGeom prst="roundRect">
            <a:avLst>
              <a:gd name="adj" fmla="val 5333"/>
            </a:avLst>
          </a:prstGeom>
          <a:solidFill>
            <a:srgbClr val="1C1917"/>
          </a:solidFill>
          <a:ln/>
        </p:spPr>
      </p:sp>
      <p:sp>
        <p:nvSpPr>
          <p:cNvPr id="15" name="Text 13"/>
          <p:cNvSpPr/>
          <p:nvPr/>
        </p:nvSpPr>
        <p:spPr>
          <a:xfrm>
            <a:off x="6144768" y="4407408"/>
            <a:ext cx="2615184" cy="566928"/>
          </a:xfrm>
          <a:prstGeom prst="rect">
            <a:avLst/>
          </a:prstGeom>
          <a:noFill/>
          <a:ln/>
        </p:spPr>
        <p:txBody>
          <a:bodyPr wrap="square" lIns="0" tIns="0" rIns="0" bIns="0" rtlCol="0" anchor="ctr"/>
          <a:lstStyle/>
          <a:p>
            <a:pPr algn="ctr" indent="0" marL="0">
              <a:buNone/>
            </a:pPr>
            <a:r>
              <a:rPr lang="en-US" sz="3200" b="1" dirty="0">
                <a:solidFill>
                  <a:srgbClr val="FF7A3D"/>
                </a:solidFill>
                <a:latin typeface="Cambria" pitchFamily="34" charset="0"/>
                <a:ea typeface="Cambria" pitchFamily="34" charset="-122"/>
                <a:cs typeface="Cambria" pitchFamily="34" charset="-120"/>
              </a:rPr>
              <a:t>96</a:t>
            </a:r>
            <a:endParaRPr lang="en-US" sz="3200" dirty="0"/>
          </a:p>
        </p:txBody>
      </p:sp>
      <p:sp>
        <p:nvSpPr>
          <p:cNvPr id="16" name="Text 14"/>
          <p:cNvSpPr/>
          <p:nvPr/>
        </p:nvSpPr>
        <p:spPr>
          <a:xfrm>
            <a:off x="6144768" y="5029200"/>
            <a:ext cx="2615184" cy="256032"/>
          </a:xfrm>
          <a:prstGeom prst="rect">
            <a:avLst/>
          </a:prstGeom>
          <a:noFill/>
          <a:ln/>
        </p:spPr>
        <p:txBody>
          <a:bodyPr wrap="square" lIns="0" tIns="0" rIns="0" bIns="0" rtlCol="0" anchor="ctr"/>
          <a:lstStyle/>
          <a:p>
            <a:pPr algn="ctr" indent="0" marL="0">
              <a:buNone/>
            </a:pPr>
            <a:r>
              <a:rPr lang="en-US" sz="1000" b="1" spc="100" kern="0" dirty="0">
                <a:solidFill>
                  <a:srgbClr val="7E766A"/>
                </a:solidFill>
                <a:latin typeface="Calibri" pitchFamily="34" charset="0"/>
                <a:ea typeface="Calibri" pitchFamily="34" charset="-122"/>
                <a:cs typeface="Calibri" pitchFamily="34" charset="-120"/>
              </a:rPr>
              <a:t>NOBODY CHOSE</a:t>
            </a:r>
            <a:endParaRPr lang="en-US" sz="1000" dirty="0"/>
          </a:p>
        </p:txBody>
      </p:sp>
      <p:sp>
        <p:nvSpPr>
          <p:cNvPr id="17" name="Shape 15"/>
          <p:cNvSpPr/>
          <p:nvPr/>
        </p:nvSpPr>
        <p:spPr>
          <a:xfrm>
            <a:off x="8942832" y="4251960"/>
            <a:ext cx="2615184" cy="1371600"/>
          </a:xfrm>
          <a:prstGeom prst="roundRect">
            <a:avLst>
              <a:gd name="adj" fmla="val 5333"/>
            </a:avLst>
          </a:prstGeom>
          <a:solidFill>
            <a:srgbClr val="1C1917"/>
          </a:solidFill>
          <a:ln/>
        </p:spPr>
      </p:sp>
      <p:sp>
        <p:nvSpPr>
          <p:cNvPr id="18" name="Text 16"/>
          <p:cNvSpPr/>
          <p:nvPr/>
        </p:nvSpPr>
        <p:spPr>
          <a:xfrm>
            <a:off x="8942832" y="4407408"/>
            <a:ext cx="2615184" cy="566928"/>
          </a:xfrm>
          <a:prstGeom prst="rect">
            <a:avLst/>
          </a:prstGeom>
          <a:noFill/>
          <a:ln/>
        </p:spPr>
        <p:txBody>
          <a:bodyPr wrap="square" lIns="0" tIns="0" rIns="0" bIns="0" rtlCol="0" anchor="ctr"/>
          <a:lstStyle/>
          <a:p>
            <a:pPr algn="ctr" indent="0" marL="0">
              <a:buNone/>
            </a:pPr>
            <a:r>
              <a:rPr lang="en-US" sz="3200" b="1" dirty="0">
                <a:solidFill>
                  <a:srgbClr val="F2EEE7"/>
                </a:solidFill>
                <a:latin typeface="Cambria" pitchFamily="34" charset="0"/>
                <a:ea typeface="Cambria" pitchFamily="34" charset="-122"/>
                <a:cs typeface="Cambria" pitchFamily="34" charset="-120"/>
              </a:rPr>
              <a:t>46 ms</a:t>
            </a:r>
            <a:endParaRPr lang="en-US" sz="3200" dirty="0"/>
          </a:p>
        </p:txBody>
      </p:sp>
      <p:sp>
        <p:nvSpPr>
          <p:cNvPr id="19" name="Text 17"/>
          <p:cNvSpPr/>
          <p:nvPr/>
        </p:nvSpPr>
        <p:spPr>
          <a:xfrm>
            <a:off x="8942832" y="5029200"/>
            <a:ext cx="2615184" cy="256032"/>
          </a:xfrm>
          <a:prstGeom prst="rect">
            <a:avLst/>
          </a:prstGeom>
          <a:noFill/>
          <a:ln/>
        </p:spPr>
        <p:txBody>
          <a:bodyPr wrap="square" lIns="0" tIns="0" rIns="0" bIns="0" rtlCol="0" anchor="ctr"/>
          <a:lstStyle/>
          <a:p>
            <a:pPr algn="ctr" indent="0" marL="0">
              <a:buNone/>
            </a:pPr>
            <a:r>
              <a:rPr lang="en-US" sz="1000" b="1" spc="100" kern="0" dirty="0">
                <a:solidFill>
                  <a:srgbClr val="7E766A"/>
                </a:solidFill>
                <a:latin typeface="Calibri" pitchFamily="34" charset="0"/>
                <a:ea typeface="Calibri" pitchFamily="34" charset="-122"/>
                <a:cs typeface="Calibri" pitchFamily="34" charset="-120"/>
              </a:rPr>
              <a:t>FULL ESTATE SCAN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One process. No database. The graph is the load-bearing wall.</a:t>
            </a:r>
            <a:endParaRPr lang="en-US" sz="3400" dirty="0"/>
          </a:p>
        </p:txBody>
      </p:sp>
      <p:sp>
        <p:nvSpPr>
          <p:cNvPr id="4" name="Shape 2"/>
          <p:cNvSpPr/>
          <p:nvPr/>
        </p:nvSpPr>
        <p:spPr>
          <a:xfrm>
            <a:off x="548640" y="1874520"/>
            <a:ext cx="2011680" cy="1417320"/>
          </a:xfrm>
          <a:prstGeom prst="roundRect">
            <a:avLst>
              <a:gd name="adj" fmla="val 5161"/>
            </a:avLst>
          </a:prstGeom>
          <a:solidFill>
            <a:srgbClr val="1C1917"/>
          </a:solidFill>
          <a:ln/>
        </p:spPr>
      </p:sp>
      <p:sp>
        <p:nvSpPr>
          <p:cNvPr id="5" name="Text 3"/>
          <p:cNvSpPr/>
          <p:nvPr/>
        </p:nvSpPr>
        <p:spPr>
          <a:xfrm>
            <a:off x="548640" y="2057400"/>
            <a:ext cx="2011680" cy="274320"/>
          </a:xfrm>
          <a:prstGeom prst="rect">
            <a:avLst/>
          </a:prstGeom>
          <a:noFill/>
          <a:ln/>
        </p:spPr>
        <p:txBody>
          <a:bodyPr wrap="square" lIns="0" tIns="0" rIns="0" bIns="0" rtlCol="0" anchor="ctr"/>
          <a:lstStyle/>
          <a:p>
            <a:pPr algn="ctr" indent="0" marL="0">
              <a:buNone/>
            </a:pPr>
            <a:r>
              <a:rPr lang="en-US" sz="1200" b="1" spc="100" kern="0" dirty="0">
                <a:solidFill>
                  <a:srgbClr val="7E766A"/>
                </a:solidFill>
                <a:latin typeface="Calibri" pitchFamily="34" charset="0"/>
                <a:ea typeface="Calibri" pitchFamily="34" charset="-122"/>
                <a:cs typeface="Calibri" pitchFamily="34" charset="-120"/>
              </a:rPr>
              <a:t>INGEST</a:t>
            </a:r>
            <a:endParaRPr lang="en-US" sz="1200" dirty="0"/>
          </a:p>
        </p:txBody>
      </p:sp>
      <p:sp>
        <p:nvSpPr>
          <p:cNvPr id="6" name="Text 4"/>
          <p:cNvSpPr/>
          <p:nvPr/>
        </p:nvSpPr>
        <p:spPr>
          <a:xfrm>
            <a:off x="548640" y="2395728"/>
            <a:ext cx="2011680" cy="731520"/>
          </a:xfrm>
          <a:prstGeom prst="rect">
            <a:avLst/>
          </a:prstGeom>
          <a:noFill/>
          <a:ln/>
        </p:spPr>
        <p:txBody>
          <a:bodyPr wrap="square" lIns="0" tIns="0" rIns="0" bIns="0" rtlCol="0" anchor="ctr"/>
          <a:lstStyle/>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CSV · JSON</a:t>
            </a:r>
            <a:endParaRPr lang="en-US" sz="950" dirty="0"/>
          </a:p>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CycloneDX · SPDX</a:t>
            </a:r>
            <a:endParaRPr lang="en-US" sz="950" dirty="0"/>
          </a:p>
        </p:txBody>
      </p:sp>
      <p:sp>
        <p:nvSpPr>
          <p:cNvPr id="7" name="Text 5"/>
          <p:cNvSpPr/>
          <p:nvPr/>
        </p:nvSpPr>
        <p:spPr>
          <a:xfrm>
            <a:off x="2560320" y="1874520"/>
            <a:ext cx="246888" cy="1417320"/>
          </a:xfrm>
          <a:prstGeom prst="rect">
            <a:avLst/>
          </a:prstGeom>
          <a:noFill/>
          <a:ln/>
        </p:spPr>
        <p:txBody>
          <a:bodyPr wrap="square" lIns="0" tIns="0" rIns="0" bIns="0" rtlCol="0" anchor="ctr"/>
          <a:lstStyle/>
          <a:p>
            <a:pPr algn="ctr" indent="0" marL="0">
              <a:buNone/>
            </a:pPr>
            <a:r>
              <a:rPr lang="en-US" sz="1400" dirty="0">
                <a:solidFill>
                  <a:srgbClr val="7E766A"/>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2807208" y="1874520"/>
            <a:ext cx="2011680" cy="1417320"/>
          </a:xfrm>
          <a:prstGeom prst="roundRect">
            <a:avLst>
              <a:gd name="adj" fmla="val 5161"/>
            </a:avLst>
          </a:prstGeom>
          <a:solidFill>
            <a:srgbClr val="272220"/>
          </a:solidFill>
          <a:ln/>
        </p:spPr>
      </p:sp>
      <p:sp>
        <p:nvSpPr>
          <p:cNvPr id="9" name="Text 7"/>
          <p:cNvSpPr/>
          <p:nvPr/>
        </p:nvSpPr>
        <p:spPr>
          <a:xfrm>
            <a:off x="2807208" y="2057400"/>
            <a:ext cx="2011680" cy="274320"/>
          </a:xfrm>
          <a:prstGeom prst="rect">
            <a:avLst/>
          </a:prstGeom>
          <a:noFill/>
          <a:ln/>
        </p:spPr>
        <p:txBody>
          <a:bodyPr wrap="square" lIns="0" tIns="0" rIns="0" bIns="0" rtlCol="0" anchor="ctr"/>
          <a:lstStyle/>
          <a:p>
            <a:pPr algn="ctr" indent="0" marL="0">
              <a:buNone/>
            </a:pPr>
            <a:r>
              <a:rPr lang="en-US" sz="1200" b="1" spc="100" kern="0" dirty="0">
                <a:solidFill>
                  <a:srgbClr val="FF7A3D"/>
                </a:solidFill>
                <a:latin typeface="Calibri" pitchFamily="34" charset="0"/>
                <a:ea typeface="Calibri" pitchFamily="34" charset="-122"/>
                <a:cs typeface="Calibri" pitchFamily="34" charset="-120"/>
              </a:rPr>
              <a:t>AUDIT</a:t>
            </a:r>
            <a:endParaRPr lang="en-US" sz="1200" dirty="0"/>
          </a:p>
        </p:txBody>
      </p:sp>
      <p:sp>
        <p:nvSpPr>
          <p:cNvPr id="10" name="Text 8"/>
          <p:cNvSpPr/>
          <p:nvPr/>
        </p:nvSpPr>
        <p:spPr>
          <a:xfrm>
            <a:off x="2807208" y="2395728"/>
            <a:ext cx="2011680" cy="731520"/>
          </a:xfrm>
          <a:prstGeom prst="rect">
            <a:avLst/>
          </a:prstGeom>
          <a:noFill/>
          <a:ln/>
        </p:spPr>
        <p:txBody>
          <a:bodyPr wrap="square" lIns="0" tIns="0" rIns="0" bIns="0" rtlCol="0" anchor="ctr"/>
          <a:lstStyle/>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Does the data</a:t>
            </a:r>
            <a:endParaRPr lang="en-US" sz="950" dirty="0"/>
          </a:p>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agree with itself?</a:t>
            </a:r>
            <a:endParaRPr lang="en-US" sz="950" dirty="0"/>
          </a:p>
        </p:txBody>
      </p:sp>
      <p:sp>
        <p:nvSpPr>
          <p:cNvPr id="11" name="Text 9"/>
          <p:cNvSpPr/>
          <p:nvPr/>
        </p:nvSpPr>
        <p:spPr>
          <a:xfrm>
            <a:off x="4818888" y="1874520"/>
            <a:ext cx="246888" cy="1417320"/>
          </a:xfrm>
          <a:prstGeom prst="rect">
            <a:avLst/>
          </a:prstGeom>
          <a:noFill/>
          <a:ln/>
        </p:spPr>
        <p:txBody>
          <a:bodyPr wrap="square" lIns="0" tIns="0" rIns="0" bIns="0" rtlCol="0" anchor="ctr"/>
          <a:lstStyle/>
          <a:p>
            <a:pPr algn="ctr" indent="0" marL="0">
              <a:buNone/>
            </a:pPr>
            <a:r>
              <a:rPr lang="en-US" sz="1400" dirty="0">
                <a:solidFill>
                  <a:srgbClr val="7E766A"/>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5065776" y="1874520"/>
            <a:ext cx="2011680" cy="1417320"/>
          </a:xfrm>
          <a:prstGeom prst="roundRect">
            <a:avLst>
              <a:gd name="adj" fmla="val 5161"/>
            </a:avLst>
          </a:prstGeom>
          <a:solidFill>
            <a:srgbClr val="1C1917"/>
          </a:solidFill>
          <a:ln/>
        </p:spPr>
      </p:sp>
      <p:sp>
        <p:nvSpPr>
          <p:cNvPr id="13" name="Text 11"/>
          <p:cNvSpPr/>
          <p:nvPr/>
        </p:nvSpPr>
        <p:spPr>
          <a:xfrm>
            <a:off x="5065776" y="2057400"/>
            <a:ext cx="2011680" cy="274320"/>
          </a:xfrm>
          <a:prstGeom prst="rect">
            <a:avLst/>
          </a:prstGeom>
          <a:noFill/>
          <a:ln/>
        </p:spPr>
        <p:txBody>
          <a:bodyPr wrap="square" lIns="0" tIns="0" rIns="0" bIns="0" rtlCol="0" anchor="ctr"/>
          <a:lstStyle/>
          <a:p>
            <a:pPr algn="ctr" indent="0" marL="0">
              <a:buNone/>
            </a:pPr>
            <a:r>
              <a:rPr lang="en-US" sz="1200" b="1" spc="100" kern="0" dirty="0">
                <a:solidFill>
                  <a:srgbClr val="FFC46B"/>
                </a:solidFill>
                <a:latin typeface="Calibri" pitchFamily="34" charset="0"/>
                <a:ea typeface="Calibri" pitchFamily="34" charset="-122"/>
                <a:cs typeface="Calibri" pitchFamily="34" charset="-120"/>
              </a:rPr>
              <a:t>GRAPH</a:t>
            </a:r>
            <a:endParaRPr lang="en-US" sz="1200" dirty="0"/>
          </a:p>
        </p:txBody>
      </p:sp>
      <p:sp>
        <p:nvSpPr>
          <p:cNvPr id="14" name="Text 12"/>
          <p:cNvSpPr/>
          <p:nvPr/>
        </p:nvSpPr>
        <p:spPr>
          <a:xfrm>
            <a:off x="5065776" y="2395728"/>
            <a:ext cx="2011680" cy="731520"/>
          </a:xfrm>
          <a:prstGeom prst="rect">
            <a:avLst/>
          </a:prstGeom>
          <a:noFill/>
          <a:ln/>
        </p:spPr>
        <p:txBody>
          <a:bodyPr wrap="square" lIns="0" tIns="0" rIns="0" bIns="0" rtlCol="0" anchor="ctr"/>
          <a:lstStyle/>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networkx DiGraph</a:t>
            </a:r>
            <a:endParaRPr lang="en-US" sz="950" dirty="0"/>
          </a:p>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depth by traversal</a:t>
            </a:r>
            <a:endParaRPr lang="en-US" sz="950" dirty="0"/>
          </a:p>
        </p:txBody>
      </p:sp>
      <p:sp>
        <p:nvSpPr>
          <p:cNvPr id="15" name="Text 13"/>
          <p:cNvSpPr/>
          <p:nvPr/>
        </p:nvSpPr>
        <p:spPr>
          <a:xfrm>
            <a:off x="7077456" y="1874520"/>
            <a:ext cx="246888" cy="1417320"/>
          </a:xfrm>
          <a:prstGeom prst="rect">
            <a:avLst/>
          </a:prstGeom>
          <a:noFill/>
          <a:ln/>
        </p:spPr>
        <p:txBody>
          <a:bodyPr wrap="square" lIns="0" tIns="0" rIns="0" bIns="0" rtlCol="0" anchor="ctr"/>
          <a:lstStyle/>
          <a:p>
            <a:pPr algn="ctr" indent="0" marL="0">
              <a:buNone/>
            </a:pPr>
            <a:r>
              <a:rPr lang="en-US" sz="1400" dirty="0">
                <a:solidFill>
                  <a:srgbClr val="7E766A"/>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7324344" y="1874520"/>
            <a:ext cx="2011680" cy="1417320"/>
          </a:xfrm>
          <a:prstGeom prst="roundRect">
            <a:avLst>
              <a:gd name="adj" fmla="val 5161"/>
            </a:avLst>
          </a:prstGeom>
          <a:solidFill>
            <a:srgbClr val="1C1917"/>
          </a:solidFill>
          <a:ln/>
        </p:spPr>
      </p:sp>
      <p:sp>
        <p:nvSpPr>
          <p:cNvPr id="17" name="Text 15"/>
          <p:cNvSpPr/>
          <p:nvPr/>
        </p:nvSpPr>
        <p:spPr>
          <a:xfrm>
            <a:off x="7324344" y="2057400"/>
            <a:ext cx="2011680" cy="274320"/>
          </a:xfrm>
          <a:prstGeom prst="rect">
            <a:avLst/>
          </a:prstGeom>
          <a:noFill/>
          <a:ln/>
        </p:spPr>
        <p:txBody>
          <a:bodyPr wrap="square" lIns="0" tIns="0" rIns="0" bIns="0" rtlCol="0" anchor="ctr"/>
          <a:lstStyle/>
          <a:p>
            <a:pPr algn="ctr" indent="0" marL="0">
              <a:buNone/>
            </a:pPr>
            <a:r>
              <a:rPr lang="en-US" sz="1200" b="1" spc="100" kern="0" dirty="0">
                <a:solidFill>
                  <a:srgbClr val="7E766A"/>
                </a:solidFill>
                <a:latin typeface="Calibri" pitchFamily="34" charset="0"/>
                <a:ea typeface="Calibri" pitchFamily="34" charset="-122"/>
                <a:cs typeface="Calibri" pitchFamily="34" charset="-120"/>
              </a:rPr>
              <a:t>DETECT</a:t>
            </a:r>
            <a:endParaRPr lang="en-US" sz="1200" dirty="0"/>
          </a:p>
        </p:txBody>
      </p:sp>
      <p:sp>
        <p:nvSpPr>
          <p:cNvPr id="18" name="Text 16"/>
          <p:cNvSpPr/>
          <p:nvPr/>
        </p:nvSpPr>
        <p:spPr>
          <a:xfrm>
            <a:off x="7324344" y="2395728"/>
            <a:ext cx="2011680" cy="731520"/>
          </a:xfrm>
          <a:prstGeom prst="rect">
            <a:avLst/>
          </a:prstGeom>
          <a:noFill/>
          <a:ln/>
        </p:spPr>
        <p:txBody>
          <a:bodyPr wrap="square" lIns="0" tIns="0" rIns="0" bIns="0" rtlCol="0" anchor="ctr"/>
          <a:lstStyle/>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vuln · licence</a:t>
            </a:r>
            <a:endParaRPr lang="en-US" sz="950" dirty="0"/>
          </a:p>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maintenance</a:t>
            </a:r>
            <a:endParaRPr lang="en-US" sz="950" dirty="0"/>
          </a:p>
        </p:txBody>
      </p:sp>
      <p:sp>
        <p:nvSpPr>
          <p:cNvPr id="19" name="Text 17"/>
          <p:cNvSpPr/>
          <p:nvPr/>
        </p:nvSpPr>
        <p:spPr>
          <a:xfrm>
            <a:off x="9336024" y="1874520"/>
            <a:ext cx="246888" cy="1417320"/>
          </a:xfrm>
          <a:prstGeom prst="rect">
            <a:avLst/>
          </a:prstGeom>
          <a:noFill/>
          <a:ln/>
        </p:spPr>
        <p:txBody>
          <a:bodyPr wrap="square" lIns="0" tIns="0" rIns="0" bIns="0" rtlCol="0" anchor="ctr"/>
          <a:lstStyle/>
          <a:p>
            <a:pPr algn="ctr" indent="0" marL="0">
              <a:buNone/>
            </a:pPr>
            <a:r>
              <a:rPr lang="en-US" sz="1400" dirty="0">
                <a:solidFill>
                  <a:srgbClr val="7E766A"/>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9582912" y="1874520"/>
            <a:ext cx="2011680" cy="1417320"/>
          </a:xfrm>
          <a:prstGeom prst="roundRect">
            <a:avLst>
              <a:gd name="adj" fmla="val 5161"/>
            </a:avLst>
          </a:prstGeom>
          <a:solidFill>
            <a:srgbClr val="1C1917"/>
          </a:solidFill>
          <a:ln/>
        </p:spPr>
      </p:sp>
      <p:sp>
        <p:nvSpPr>
          <p:cNvPr id="21" name="Text 19"/>
          <p:cNvSpPr/>
          <p:nvPr/>
        </p:nvSpPr>
        <p:spPr>
          <a:xfrm>
            <a:off x="9582912" y="2057400"/>
            <a:ext cx="2011680" cy="274320"/>
          </a:xfrm>
          <a:prstGeom prst="rect">
            <a:avLst/>
          </a:prstGeom>
          <a:noFill/>
          <a:ln/>
        </p:spPr>
        <p:txBody>
          <a:bodyPr wrap="square" lIns="0" tIns="0" rIns="0" bIns="0" rtlCol="0" anchor="ctr"/>
          <a:lstStyle/>
          <a:p>
            <a:pPr algn="ctr" indent="0" marL="0">
              <a:buNone/>
            </a:pPr>
            <a:r>
              <a:rPr lang="en-US" sz="1200" b="1" spc="100" kern="0" dirty="0">
                <a:solidFill>
                  <a:srgbClr val="7E766A"/>
                </a:solidFill>
                <a:latin typeface="Calibri" pitchFamily="34" charset="0"/>
                <a:ea typeface="Calibri" pitchFamily="34" charset="-122"/>
                <a:cs typeface="Calibri" pitchFamily="34" charset="-120"/>
              </a:rPr>
              <a:t>SCORE</a:t>
            </a:r>
            <a:endParaRPr lang="en-US" sz="1200" dirty="0"/>
          </a:p>
        </p:txBody>
      </p:sp>
      <p:sp>
        <p:nvSpPr>
          <p:cNvPr id="22" name="Text 20"/>
          <p:cNvSpPr/>
          <p:nvPr/>
        </p:nvSpPr>
        <p:spPr>
          <a:xfrm>
            <a:off x="9582912" y="2395728"/>
            <a:ext cx="2011680" cy="731520"/>
          </a:xfrm>
          <a:prstGeom prst="rect">
            <a:avLst/>
          </a:prstGeom>
          <a:noFill/>
          <a:ln/>
        </p:spPr>
        <p:txBody>
          <a:bodyPr wrap="square" lIns="0" tIns="0" rIns="0" bIns="0" rtlCol="0" anchor="ctr"/>
          <a:lstStyle/>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risk + priority</a:t>
            </a:r>
            <a:endParaRPr lang="en-US" sz="950" dirty="0"/>
          </a:p>
          <a:p>
            <a:pPr algn="ctr" indent="0" marL="0">
              <a:lnSpc>
                <a:spcPts val="1400"/>
              </a:lnSpc>
              <a:buNone/>
            </a:pPr>
            <a:r>
              <a:rPr lang="en-US" sz="950" dirty="0">
                <a:solidFill>
                  <a:srgbClr val="A89F92"/>
                </a:solidFill>
                <a:latin typeface="Courier New" pitchFamily="34" charset="0"/>
                <a:ea typeface="Courier New" pitchFamily="34" charset="-122"/>
                <a:cs typeface="Courier New" pitchFamily="34" charset="-120"/>
              </a:rPr>
              <a:t>suppression</a:t>
            </a:r>
            <a:endParaRPr lang="en-US" sz="950" dirty="0"/>
          </a:p>
        </p:txBody>
      </p:sp>
      <p:sp>
        <p:nvSpPr>
          <p:cNvPr id="23" name="Text 21"/>
          <p:cNvSpPr/>
          <p:nvPr/>
        </p:nvSpPr>
        <p:spPr>
          <a:xfrm>
            <a:off x="548640" y="3474720"/>
            <a:ext cx="11064240" cy="274320"/>
          </a:xfrm>
          <a:prstGeom prst="rect">
            <a:avLst/>
          </a:prstGeom>
          <a:noFill/>
          <a:ln/>
        </p:spPr>
        <p:txBody>
          <a:bodyPr wrap="square" lIns="0" tIns="0" rIns="0" bIns="0" rtlCol="0" anchor="ctr"/>
          <a:lstStyle/>
          <a:p>
            <a:pPr indent="0" marL="0">
              <a:buNone/>
            </a:pPr>
            <a:r>
              <a:rPr lang="en-US" sz="1200" i="1" dirty="0">
                <a:solidFill>
                  <a:srgbClr val="FF7A3D"/>
                </a:solidFill>
                <a:latin typeface="Calibri" pitchFamily="34" charset="0"/>
                <a:ea typeface="Calibri" pitchFamily="34" charset="-122"/>
                <a:cs typeface="Calibri" pitchFamily="34" charset="-120"/>
              </a:rPr>
              <a:t>The audit step is not standard, and it is the reason this submission exists. See slide 8.</a:t>
            </a:r>
            <a:endParaRPr lang="en-US" sz="1200" dirty="0"/>
          </a:p>
        </p:txBody>
      </p:sp>
      <p:sp>
        <p:nvSpPr>
          <p:cNvPr id="24" name="Text 22"/>
          <p:cNvSpPr/>
          <p:nvPr/>
        </p:nvSpPr>
        <p:spPr>
          <a:xfrm>
            <a:off x="548640" y="4023360"/>
            <a:ext cx="1463040" cy="310896"/>
          </a:xfrm>
          <a:prstGeom prst="rect">
            <a:avLst/>
          </a:prstGeom>
          <a:noFill/>
          <a:ln/>
        </p:spPr>
        <p:txBody>
          <a:bodyPr wrap="square" lIns="0" tIns="0" rIns="0" bIns="0" rtlCol="0" anchor="ctr"/>
          <a:lstStyle/>
          <a:p>
            <a:pPr algn="r" indent="0" marL="0">
              <a:buNone/>
            </a:pPr>
            <a:r>
              <a:rPr lang="en-US" sz="1700" b="1" dirty="0">
                <a:solidFill>
                  <a:srgbClr val="F2EEE7"/>
                </a:solidFill>
                <a:latin typeface="Cambria" pitchFamily="34" charset="0"/>
                <a:ea typeface="Cambria" pitchFamily="34" charset="-122"/>
                <a:cs typeface="Cambria" pitchFamily="34" charset="-120"/>
              </a:rPr>
              <a:t>46 ms</a:t>
            </a:r>
            <a:endParaRPr lang="en-US" sz="1700" dirty="0"/>
          </a:p>
        </p:txBody>
      </p:sp>
      <p:sp>
        <p:nvSpPr>
          <p:cNvPr id="25" name="Text 23"/>
          <p:cNvSpPr/>
          <p:nvPr/>
        </p:nvSpPr>
        <p:spPr>
          <a:xfrm>
            <a:off x="2148840" y="4059936"/>
            <a:ext cx="9418320" cy="292608"/>
          </a:xfrm>
          <a:prstGeom prst="rect">
            <a:avLst/>
          </a:prstGeom>
          <a:noFill/>
          <a:ln/>
        </p:spPr>
        <p:txBody>
          <a:bodyPr wrap="square" lIns="0" tIns="0" rIns="0" bIns="0" rtlCol="0" anchor="ctr"/>
          <a:lstStyle/>
          <a:p>
            <a:pPr indent="0" marL="0">
              <a:buNone/>
            </a:pPr>
            <a:r>
              <a:rPr lang="en-US" sz="1300" dirty="0">
                <a:solidFill>
                  <a:srgbClr val="A89F92"/>
                </a:solidFill>
                <a:latin typeface="Calibri" pitchFamily="34" charset="0"/>
                <a:ea typeface="Calibri" pitchFamily="34" charset="-122"/>
                <a:cs typeface="Calibri" pitchFamily="34" charset="-120"/>
              </a:rPr>
              <a:t>full analysis of 500 components, 200 CVEs, 10 apps</a:t>
            </a:r>
            <a:endParaRPr lang="en-US" sz="1300" dirty="0"/>
          </a:p>
        </p:txBody>
      </p:sp>
      <p:sp>
        <p:nvSpPr>
          <p:cNvPr id="26" name="Text 24"/>
          <p:cNvSpPr/>
          <p:nvPr/>
        </p:nvSpPr>
        <p:spPr>
          <a:xfrm>
            <a:off x="548640" y="4590288"/>
            <a:ext cx="1463040" cy="310896"/>
          </a:xfrm>
          <a:prstGeom prst="rect">
            <a:avLst/>
          </a:prstGeom>
          <a:noFill/>
          <a:ln/>
        </p:spPr>
        <p:txBody>
          <a:bodyPr wrap="square" lIns="0" tIns="0" rIns="0" bIns="0" rtlCol="0" anchor="ctr"/>
          <a:lstStyle/>
          <a:p>
            <a:pPr algn="r" indent="0" marL="0">
              <a:buNone/>
            </a:pPr>
            <a:r>
              <a:rPr lang="en-US" sz="1700" b="1" dirty="0">
                <a:solidFill>
                  <a:srgbClr val="F2EEE7"/>
                </a:solidFill>
                <a:latin typeface="Cambria" pitchFamily="34" charset="0"/>
                <a:ea typeface="Cambria" pitchFamily="34" charset="-122"/>
                <a:cs typeface="Cambria" pitchFamily="34" charset="-120"/>
              </a:rPr>
              <a:t>191 MB</a:t>
            </a:r>
            <a:endParaRPr lang="en-US" sz="1700" dirty="0"/>
          </a:p>
        </p:txBody>
      </p:sp>
      <p:sp>
        <p:nvSpPr>
          <p:cNvPr id="27" name="Text 25"/>
          <p:cNvSpPr/>
          <p:nvPr/>
        </p:nvSpPr>
        <p:spPr>
          <a:xfrm>
            <a:off x="2148840" y="4626864"/>
            <a:ext cx="9418320" cy="292608"/>
          </a:xfrm>
          <a:prstGeom prst="rect">
            <a:avLst/>
          </a:prstGeom>
          <a:noFill/>
          <a:ln/>
        </p:spPr>
        <p:txBody>
          <a:bodyPr wrap="square" lIns="0" tIns="0" rIns="0" bIns="0" rtlCol="0" anchor="ctr"/>
          <a:lstStyle/>
          <a:p>
            <a:pPr indent="0" marL="0">
              <a:buNone/>
            </a:pPr>
            <a:r>
              <a:rPr lang="en-US" sz="1300" dirty="0">
                <a:solidFill>
                  <a:srgbClr val="A89F92"/>
                </a:solidFill>
                <a:latin typeface="Calibri" pitchFamily="34" charset="0"/>
                <a:ea typeface="Calibri" pitchFamily="34" charset="-122"/>
                <a:cs typeface="Calibri" pitchFamily="34" charset="-120"/>
              </a:rPr>
              <a:t>resident set — including running both eval harnesses live</a:t>
            </a:r>
            <a:endParaRPr lang="en-US" sz="1300" dirty="0"/>
          </a:p>
        </p:txBody>
      </p:sp>
      <p:sp>
        <p:nvSpPr>
          <p:cNvPr id="28" name="Text 26"/>
          <p:cNvSpPr/>
          <p:nvPr/>
        </p:nvSpPr>
        <p:spPr>
          <a:xfrm>
            <a:off x="548640" y="5157216"/>
            <a:ext cx="1463040" cy="310896"/>
          </a:xfrm>
          <a:prstGeom prst="rect">
            <a:avLst/>
          </a:prstGeom>
          <a:noFill/>
          <a:ln/>
        </p:spPr>
        <p:txBody>
          <a:bodyPr wrap="square" lIns="0" tIns="0" rIns="0" bIns="0" rtlCol="0" anchor="ctr"/>
          <a:lstStyle/>
          <a:p>
            <a:pPr algn="r" indent="0" marL="0">
              <a:buNone/>
            </a:pPr>
            <a:r>
              <a:rPr lang="en-US" sz="1700" b="1" dirty="0">
                <a:solidFill>
                  <a:srgbClr val="F2EEE7"/>
                </a:solidFill>
                <a:latin typeface="Cambria" pitchFamily="34" charset="0"/>
                <a:ea typeface="Cambria" pitchFamily="34" charset="-122"/>
                <a:cs typeface="Cambria" pitchFamily="34" charset="-120"/>
              </a:rPr>
              <a:t>31 / 41</a:t>
            </a:r>
            <a:endParaRPr lang="en-US" sz="1700" dirty="0"/>
          </a:p>
        </p:txBody>
      </p:sp>
      <p:sp>
        <p:nvSpPr>
          <p:cNvPr id="29" name="Text 27"/>
          <p:cNvSpPr/>
          <p:nvPr/>
        </p:nvSpPr>
        <p:spPr>
          <a:xfrm>
            <a:off x="2148840" y="5193792"/>
            <a:ext cx="9418320" cy="292608"/>
          </a:xfrm>
          <a:prstGeom prst="rect">
            <a:avLst/>
          </a:prstGeom>
          <a:noFill/>
          <a:ln/>
        </p:spPr>
        <p:txBody>
          <a:bodyPr wrap="square" lIns="0" tIns="0" rIns="0" bIns="0" rtlCol="0" anchor="ctr"/>
          <a:lstStyle/>
          <a:p>
            <a:pPr indent="0" marL="0">
              <a:buNone/>
            </a:pPr>
            <a:r>
              <a:rPr lang="en-US" sz="1300" dirty="0">
                <a:solidFill>
                  <a:srgbClr val="A89F92"/>
                </a:solidFill>
                <a:latin typeface="Calibri" pitchFamily="34" charset="0"/>
                <a:ea typeface="Calibri" pitchFamily="34" charset="-122"/>
                <a:cs typeface="Calibri" pitchFamily="34" charset="-120"/>
              </a:rPr>
              <a:t>API endpoints  ·  passing tests</a:t>
            </a:r>
            <a:endParaRPr lang="en-US" sz="1300" dirty="0"/>
          </a:p>
        </p:txBody>
      </p:sp>
      <p:sp>
        <p:nvSpPr>
          <p:cNvPr id="30" name="Text 28"/>
          <p:cNvSpPr/>
          <p:nvPr/>
        </p:nvSpPr>
        <p:spPr>
          <a:xfrm>
            <a:off x="548640" y="5724144"/>
            <a:ext cx="1463040" cy="310896"/>
          </a:xfrm>
          <a:prstGeom prst="rect">
            <a:avLst/>
          </a:prstGeom>
          <a:noFill/>
          <a:ln/>
        </p:spPr>
        <p:txBody>
          <a:bodyPr wrap="square" lIns="0" tIns="0" rIns="0" bIns="0" rtlCol="0" anchor="ctr"/>
          <a:lstStyle/>
          <a:p>
            <a:pPr algn="r" indent="0" marL="0">
              <a:buNone/>
            </a:pPr>
            <a:r>
              <a:rPr lang="en-US" sz="1700" b="1" dirty="0">
                <a:solidFill>
                  <a:srgbClr val="5FCF9A"/>
                </a:solidFill>
                <a:latin typeface="Cambria" pitchFamily="34" charset="0"/>
                <a:ea typeface="Cambria" pitchFamily="34" charset="-122"/>
                <a:cs typeface="Cambria" pitchFamily="34" charset="-120"/>
              </a:rPr>
              <a:t>0</a:t>
            </a:r>
            <a:endParaRPr lang="en-US" sz="1700" dirty="0"/>
          </a:p>
        </p:txBody>
      </p:sp>
      <p:sp>
        <p:nvSpPr>
          <p:cNvPr id="31" name="Text 29"/>
          <p:cNvSpPr/>
          <p:nvPr/>
        </p:nvSpPr>
        <p:spPr>
          <a:xfrm>
            <a:off x="2148840" y="5760720"/>
            <a:ext cx="9418320" cy="292608"/>
          </a:xfrm>
          <a:prstGeom prst="rect">
            <a:avLst/>
          </a:prstGeom>
          <a:noFill/>
          <a:ln/>
        </p:spPr>
        <p:txBody>
          <a:bodyPr wrap="square" lIns="0" tIns="0" rIns="0" bIns="0" rtlCol="0" anchor="ctr"/>
          <a:lstStyle/>
          <a:p>
            <a:pPr indent="0" marL="0">
              <a:buNone/>
            </a:pPr>
            <a:r>
              <a:rPr lang="en-US" sz="1300" dirty="0">
                <a:solidFill>
                  <a:srgbClr val="A89F92"/>
                </a:solidFill>
                <a:latin typeface="Calibri" pitchFamily="34" charset="0"/>
                <a:ea typeface="Calibri" pitchFamily="34" charset="-122"/>
                <a:cs typeface="Calibri" pitchFamily="34" charset="-120"/>
              </a:rPr>
              <a:t>API keys required to run any part of this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ANALYSIS ALGORITHMS</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Three decisions that most home-grown tools get wrong.</a:t>
            </a:r>
            <a:endParaRPr lang="en-US" sz="3400" dirty="0"/>
          </a:p>
        </p:txBody>
      </p:sp>
      <p:sp>
        <p:nvSpPr>
          <p:cNvPr id="4" name="Shape 2"/>
          <p:cNvSpPr/>
          <p:nvPr/>
        </p:nvSpPr>
        <p:spPr>
          <a:xfrm>
            <a:off x="548640" y="1691640"/>
            <a:ext cx="3520440" cy="4160520"/>
          </a:xfrm>
          <a:prstGeom prst="roundRect">
            <a:avLst>
              <a:gd name="adj" fmla="val 2078"/>
            </a:avLst>
          </a:prstGeom>
          <a:solidFill>
            <a:srgbClr val="1C1917"/>
          </a:solidFill>
          <a:ln/>
        </p:spPr>
      </p:sp>
      <p:sp>
        <p:nvSpPr>
          <p:cNvPr id="5" name="Shape 3"/>
          <p:cNvSpPr/>
          <p:nvPr/>
        </p:nvSpPr>
        <p:spPr>
          <a:xfrm>
            <a:off x="822960" y="1920240"/>
            <a:ext cx="384048" cy="384048"/>
          </a:xfrm>
          <a:prstGeom prst="ellipse">
            <a:avLst/>
          </a:prstGeom>
          <a:solidFill>
            <a:srgbClr val="FF7A3D"/>
          </a:solidFill>
          <a:ln/>
        </p:spPr>
      </p:sp>
      <p:sp>
        <p:nvSpPr>
          <p:cNvPr id="6" name="Text 4"/>
          <p:cNvSpPr/>
          <p:nvPr/>
        </p:nvSpPr>
        <p:spPr>
          <a:xfrm>
            <a:off x="822960" y="1920240"/>
            <a:ext cx="384048" cy="384048"/>
          </a:xfrm>
          <a:prstGeom prst="rect">
            <a:avLst/>
          </a:prstGeom>
          <a:noFill/>
          <a:ln/>
        </p:spPr>
        <p:txBody>
          <a:bodyPr wrap="square" lIns="0" tIns="0" rIns="0" bIns="0" rtlCol="0" anchor="ctr"/>
          <a:lstStyle/>
          <a:p>
            <a:pPr algn="ctr" indent="0" marL="0">
              <a:buNone/>
            </a:pPr>
            <a:r>
              <a:rPr lang="en-US" sz="1300" b="1" dirty="0">
                <a:solidFill>
                  <a:srgbClr val="2A1405"/>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22960" y="2423160"/>
            <a:ext cx="2971800" cy="548640"/>
          </a:xfrm>
          <a:prstGeom prst="rect">
            <a:avLst/>
          </a:prstGeom>
          <a:noFill/>
          <a:ln/>
        </p:spPr>
        <p:txBody>
          <a:bodyPr wrap="square" lIns="0" tIns="0" rIns="0" bIns="0" rtlCol="0" anchor="ctr"/>
          <a:lstStyle/>
          <a:p>
            <a:pPr indent="0" marL="0">
              <a:buNone/>
            </a:pPr>
            <a:r>
              <a:rPr lang="en-US" sz="1500" b="1" dirty="0">
                <a:solidFill>
                  <a:srgbClr val="F2EEE7"/>
                </a:solidFill>
                <a:latin typeface="Calibri" pitchFamily="34" charset="0"/>
                <a:ea typeface="Calibri" pitchFamily="34" charset="-122"/>
                <a:cs typeface="Calibri" pitchFamily="34" charset="-120"/>
              </a:rPr>
              <a:t>Versions are not strings</a:t>
            </a:r>
            <a:endParaRPr lang="en-US" sz="1500" dirty="0"/>
          </a:p>
        </p:txBody>
      </p:sp>
      <p:sp>
        <p:nvSpPr>
          <p:cNvPr id="8" name="Shape 6"/>
          <p:cNvSpPr/>
          <p:nvPr/>
        </p:nvSpPr>
        <p:spPr>
          <a:xfrm>
            <a:off x="822960" y="3017520"/>
            <a:ext cx="2971800" cy="868680"/>
          </a:xfrm>
          <a:prstGeom prst="roundRect">
            <a:avLst>
              <a:gd name="adj" fmla="val 8421"/>
            </a:avLst>
          </a:prstGeom>
          <a:solidFill>
            <a:srgbClr val="272220"/>
          </a:solidFill>
          <a:ln/>
        </p:spPr>
      </p:sp>
      <p:sp>
        <p:nvSpPr>
          <p:cNvPr id="9" name="Text 7"/>
          <p:cNvSpPr/>
          <p:nvPr/>
        </p:nvSpPr>
        <p:spPr>
          <a:xfrm>
            <a:off x="932688" y="3108960"/>
            <a:ext cx="2743200" cy="713232"/>
          </a:xfrm>
          <a:prstGeom prst="rect">
            <a:avLst/>
          </a:prstGeom>
          <a:noFill/>
          <a:ln/>
        </p:spPr>
        <p:txBody>
          <a:bodyPr wrap="square" lIns="0" tIns="0" rIns="0" bIns="0" rtlCol="0" anchor="ctr"/>
          <a:lstStyle/>
          <a:p>
            <a:pPr indent="0" marL="0">
              <a:lnSpc>
                <a:spcPts val="1300"/>
              </a:lnSpc>
              <a:buNone/>
            </a:pPr>
            <a:r>
              <a:rPr lang="en-US" sz="950" dirty="0">
                <a:solidFill>
                  <a:srgbClr val="FFC46B"/>
                </a:solidFill>
                <a:latin typeface="Courier New" pitchFamily="34" charset="0"/>
                <a:ea typeface="Courier New" pitchFamily="34" charset="-122"/>
                <a:cs typeface="Courier New" pitchFamily="34" charset="-120"/>
              </a:rPr>
              <a:t>"2.9.9" &gt; "2.9.10"</a:t>
            </a:r>
            <a:endParaRPr lang="en-US" sz="950" dirty="0"/>
          </a:p>
          <a:p>
            <a:pPr indent="0" marL="0">
              <a:lnSpc>
                <a:spcPts val="1300"/>
              </a:lnSpc>
              <a:buNone/>
            </a:pPr>
            <a:endParaRPr lang="en-US" sz="950" dirty="0"/>
          </a:p>
          <a:p>
            <a:pPr indent="0" marL="0">
              <a:lnSpc>
                <a:spcPts val="1300"/>
              </a:lnSpc>
              <a:buNone/>
            </a:pPr>
            <a:r>
              <a:rPr lang="en-US" sz="950" dirty="0">
                <a:solidFill>
                  <a:srgbClr val="FFC46B"/>
                </a:solidFill>
                <a:latin typeface="Courier New" pitchFamily="34" charset="0"/>
                <a:ea typeface="Courier New" pitchFamily="34" charset="-122"/>
                <a:cs typeface="Courier New" pitchFamily="34" charset="-120"/>
              </a:rPr>
              <a:t>True lexicographically.</a:t>
            </a:r>
            <a:endParaRPr lang="en-US" sz="950" dirty="0"/>
          </a:p>
          <a:p>
            <a:pPr indent="0" marL="0">
              <a:lnSpc>
                <a:spcPts val="1300"/>
              </a:lnSpc>
              <a:buNone/>
            </a:pPr>
            <a:r>
              <a:rPr lang="en-US" sz="950" dirty="0">
                <a:solidFill>
                  <a:srgbClr val="FFC46B"/>
                </a:solidFill>
                <a:latin typeface="Courier New" pitchFamily="34" charset="0"/>
                <a:ea typeface="Courier New" pitchFamily="34" charset="-122"/>
                <a:cs typeface="Courier New" pitchFamily="34" charset="-120"/>
              </a:rPr>
              <a:t>False in reality.</a:t>
            </a:r>
            <a:endParaRPr lang="en-US" sz="950" dirty="0"/>
          </a:p>
        </p:txBody>
      </p:sp>
      <p:sp>
        <p:nvSpPr>
          <p:cNvPr id="10" name="Text 8"/>
          <p:cNvSpPr/>
          <p:nvPr/>
        </p:nvSpPr>
        <p:spPr>
          <a:xfrm>
            <a:off x="822960" y="4041648"/>
            <a:ext cx="2971800" cy="1645920"/>
          </a:xfrm>
          <a:prstGeom prst="rect">
            <a:avLst/>
          </a:prstGeom>
          <a:noFill/>
          <a:ln/>
        </p:spPr>
        <p:txBody>
          <a:bodyPr wrap="square" lIns="0" tIns="0" rIns="0" bIns="0" rtlCol="0" anchor="ctr"/>
          <a:lstStyle/>
          <a:p>
            <a:pPr indent="0" marL="0">
              <a:lnSpc>
                <a:spcPts val="1500"/>
              </a:lnSpc>
              <a:buNone/>
            </a:pPr>
            <a:r>
              <a:rPr lang="en-US" sz="1100" dirty="0">
                <a:solidFill>
                  <a:srgbClr val="A89F92"/>
                </a:solidFill>
                <a:latin typeface="Calibri" pitchFamily="34" charset="0"/>
                <a:ea typeface="Calibri" pitchFamily="34" charset="-122"/>
                <a:cs typeface="Calibri" pitchFamily="34" charset="-120"/>
              </a:rPr>
              <a:t>A naive string compare marks a VULNERABLE component clean. This is the most common bug in home-grown SBOM tooling.</a:t>
            </a:r>
            <a:endParaRPr lang="en-US" sz="1100" dirty="0"/>
          </a:p>
          <a:p>
            <a:pPr indent="0" marL="0">
              <a:lnSpc>
                <a:spcPts val="1500"/>
              </a:lnSpc>
              <a:buNone/>
            </a:pPr>
            <a:endParaRPr lang="en-US" sz="1100" dirty="0"/>
          </a:p>
          <a:p>
            <a:pPr indent="0" marL="0">
              <a:lnSpc>
                <a:spcPts val="1500"/>
              </a:lnSpc>
              <a:buNone/>
            </a:pPr>
            <a:r>
              <a:rPr lang="en-US" sz="1100" dirty="0">
                <a:solidFill>
                  <a:srgbClr val="A89F92"/>
                </a:solidFill>
                <a:latin typeface="Calibri" pitchFamily="34" charset="0"/>
                <a:ea typeface="Calibri" pitchFamily="34" charset="-122"/>
                <a:cs typeface="Calibri" pitchFamily="34" charset="-120"/>
              </a:rPr>
              <a:t>fixed = None means no fix ever shipped — affected forever. Not "unknown". 47 findings have no patch.</a:t>
            </a:r>
            <a:endParaRPr lang="en-US" sz="1100" dirty="0"/>
          </a:p>
        </p:txBody>
      </p:sp>
      <p:sp>
        <p:nvSpPr>
          <p:cNvPr id="11" name="Shape 9"/>
          <p:cNvSpPr/>
          <p:nvPr/>
        </p:nvSpPr>
        <p:spPr>
          <a:xfrm>
            <a:off x="4325112" y="1691640"/>
            <a:ext cx="3520440" cy="4160520"/>
          </a:xfrm>
          <a:prstGeom prst="roundRect">
            <a:avLst>
              <a:gd name="adj" fmla="val 2078"/>
            </a:avLst>
          </a:prstGeom>
          <a:solidFill>
            <a:srgbClr val="1C1917"/>
          </a:solidFill>
          <a:ln/>
        </p:spPr>
      </p:sp>
      <p:sp>
        <p:nvSpPr>
          <p:cNvPr id="12" name="Shape 10"/>
          <p:cNvSpPr/>
          <p:nvPr/>
        </p:nvSpPr>
        <p:spPr>
          <a:xfrm>
            <a:off x="4599432" y="1920240"/>
            <a:ext cx="384048" cy="384048"/>
          </a:xfrm>
          <a:prstGeom prst="ellipse">
            <a:avLst/>
          </a:prstGeom>
          <a:solidFill>
            <a:srgbClr val="FF7A3D"/>
          </a:solidFill>
          <a:ln/>
        </p:spPr>
      </p:sp>
      <p:sp>
        <p:nvSpPr>
          <p:cNvPr id="13" name="Text 11"/>
          <p:cNvSpPr/>
          <p:nvPr/>
        </p:nvSpPr>
        <p:spPr>
          <a:xfrm>
            <a:off x="4599432" y="1920240"/>
            <a:ext cx="384048" cy="384048"/>
          </a:xfrm>
          <a:prstGeom prst="rect">
            <a:avLst/>
          </a:prstGeom>
          <a:noFill/>
          <a:ln/>
        </p:spPr>
        <p:txBody>
          <a:bodyPr wrap="square" lIns="0" tIns="0" rIns="0" bIns="0" rtlCol="0" anchor="ctr"/>
          <a:lstStyle/>
          <a:p>
            <a:pPr algn="ctr" indent="0" marL="0">
              <a:buNone/>
            </a:pPr>
            <a:r>
              <a:rPr lang="en-US" sz="1300" b="1" dirty="0">
                <a:solidFill>
                  <a:srgbClr val="2A1405"/>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599432" y="2423160"/>
            <a:ext cx="2971800" cy="548640"/>
          </a:xfrm>
          <a:prstGeom prst="rect">
            <a:avLst/>
          </a:prstGeom>
          <a:noFill/>
          <a:ln/>
        </p:spPr>
        <p:txBody>
          <a:bodyPr wrap="square" lIns="0" tIns="0" rIns="0" bIns="0" rtlCol="0" anchor="ctr"/>
          <a:lstStyle/>
          <a:p>
            <a:pPr indent="0" marL="0">
              <a:buNone/>
            </a:pPr>
            <a:r>
              <a:rPr lang="en-US" sz="1500" b="1" dirty="0">
                <a:solidFill>
                  <a:srgbClr val="F2EEE7"/>
                </a:solidFill>
                <a:latin typeface="Calibri" pitchFamily="34" charset="0"/>
                <a:ea typeface="Calibri" pitchFamily="34" charset="-122"/>
                <a:cs typeface="Calibri" pitchFamily="34" charset="-120"/>
              </a:rPr>
              <a:t>Depth is never trusted</a:t>
            </a:r>
            <a:endParaRPr lang="en-US" sz="1500" dirty="0"/>
          </a:p>
        </p:txBody>
      </p:sp>
      <p:sp>
        <p:nvSpPr>
          <p:cNvPr id="15" name="Shape 13"/>
          <p:cNvSpPr/>
          <p:nvPr/>
        </p:nvSpPr>
        <p:spPr>
          <a:xfrm>
            <a:off x="4599432" y="3017520"/>
            <a:ext cx="2971800" cy="868680"/>
          </a:xfrm>
          <a:prstGeom prst="roundRect">
            <a:avLst>
              <a:gd name="adj" fmla="val 8421"/>
            </a:avLst>
          </a:prstGeom>
          <a:solidFill>
            <a:srgbClr val="272220"/>
          </a:solidFill>
          <a:ln/>
        </p:spPr>
      </p:sp>
      <p:sp>
        <p:nvSpPr>
          <p:cNvPr id="16" name="Text 14"/>
          <p:cNvSpPr/>
          <p:nvPr/>
        </p:nvSpPr>
        <p:spPr>
          <a:xfrm>
            <a:off x="4709160" y="3108960"/>
            <a:ext cx="2743200" cy="713232"/>
          </a:xfrm>
          <a:prstGeom prst="rect">
            <a:avLst/>
          </a:prstGeom>
          <a:noFill/>
          <a:ln/>
        </p:spPr>
        <p:txBody>
          <a:bodyPr wrap="square" lIns="0" tIns="0" rIns="0" bIns="0" rtlCol="0" anchor="ctr"/>
          <a:lstStyle/>
          <a:p>
            <a:pPr indent="0" marL="0">
              <a:lnSpc>
                <a:spcPts val="1300"/>
              </a:lnSpc>
              <a:buNone/>
            </a:pPr>
            <a:r>
              <a:rPr lang="en-US" sz="950" dirty="0">
                <a:solidFill>
                  <a:srgbClr val="FFC46B"/>
                </a:solidFill>
                <a:latin typeface="Courier New" pitchFamily="34" charset="0"/>
                <a:ea typeface="Courier New" pitchFamily="34" charset="-122"/>
                <a:cs typeface="Courier New" pitchFamily="34" charset="-120"/>
              </a:rPr>
              <a:t>true_depth()</a:t>
            </a:r>
            <a:endParaRPr lang="en-US" sz="950" dirty="0"/>
          </a:p>
          <a:p>
            <a:pPr indent="0" marL="0">
              <a:lnSpc>
                <a:spcPts val="1300"/>
              </a:lnSpc>
              <a:buNone/>
            </a:pPr>
            <a:r>
              <a:rPr lang="en-US" sz="950" dirty="0">
                <a:solidFill>
                  <a:srgbClr val="FFC46B"/>
                </a:solidFill>
                <a:latin typeface="Courier New" pitchFamily="34" charset="0"/>
                <a:ea typeface="Courier New" pitchFamily="34" charset="-122"/>
                <a:cs typeface="Courier New" pitchFamily="34" charset="-120"/>
              </a:rPr>
              <a:t>by traversal</a:t>
            </a:r>
            <a:endParaRPr lang="en-US" sz="950" dirty="0"/>
          </a:p>
        </p:txBody>
      </p:sp>
      <p:sp>
        <p:nvSpPr>
          <p:cNvPr id="17" name="Text 15"/>
          <p:cNvSpPr/>
          <p:nvPr/>
        </p:nvSpPr>
        <p:spPr>
          <a:xfrm>
            <a:off x="4599432" y="4041648"/>
            <a:ext cx="2971800" cy="1645920"/>
          </a:xfrm>
          <a:prstGeom prst="rect">
            <a:avLst/>
          </a:prstGeom>
          <a:noFill/>
          <a:ln/>
        </p:spPr>
        <p:txBody>
          <a:bodyPr wrap="square" lIns="0" tIns="0" rIns="0" bIns="0" rtlCol="0" anchor="ctr"/>
          <a:lstStyle/>
          <a:p>
            <a:pPr indent="0" marL="0">
              <a:lnSpc>
                <a:spcPts val="1500"/>
              </a:lnSpc>
              <a:buNone/>
            </a:pPr>
            <a:r>
              <a:rPr lang="en-US" sz="1100" dirty="0">
                <a:solidFill>
                  <a:srgbClr val="A89F92"/>
                </a:solidFill>
                <a:latin typeface="Calibri" pitchFamily="34" charset="0"/>
                <a:ea typeface="Calibri" pitchFamily="34" charset="-122"/>
                <a:cs typeface="Calibri" pitchFamily="34" charset="-120"/>
              </a:rPr>
              <a:t>The SBOM's own depth column is an assertion by whoever generated the file. The graph is the evidence.</a:t>
            </a:r>
            <a:endParaRPr lang="en-US" sz="1100" dirty="0"/>
          </a:p>
          <a:p>
            <a:pPr indent="0" marL="0">
              <a:lnSpc>
                <a:spcPts val="1500"/>
              </a:lnSpc>
              <a:buNone/>
            </a:pPr>
            <a:endParaRPr lang="en-US" sz="1100" dirty="0"/>
          </a:p>
          <a:p>
            <a:pPr indent="0" marL="0">
              <a:lnSpc>
                <a:spcPts val="1500"/>
              </a:lnSpc>
              <a:buNone/>
            </a:pPr>
            <a:r>
              <a:rPr lang="en-US" sz="1100" dirty="0">
                <a:solidFill>
                  <a:srgbClr val="A89F92"/>
                </a:solidFill>
                <a:latin typeface="Calibri" pitchFamily="34" charset="0"/>
                <a:ea typeface="Calibri" pitchFamily="34" charset="-122"/>
                <a:cs typeface="Calibri" pitchFamily="34" charset="-120"/>
              </a:rPr>
              <a:t>Diamonds — components reachable two ways — must be fixed twice. Patch one route and the "patched" library stays vulnerable.</a:t>
            </a:r>
            <a:endParaRPr lang="en-US" sz="1100" dirty="0"/>
          </a:p>
        </p:txBody>
      </p:sp>
      <p:sp>
        <p:nvSpPr>
          <p:cNvPr id="18" name="Shape 16"/>
          <p:cNvSpPr/>
          <p:nvPr/>
        </p:nvSpPr>
        <p:spPr>
          <a:xfrm>
            <a:off x="8101584" y="1691640"/>
            <a:ext cx="3520440" cy="4160520"/>
          </a:xfrm>
          <a:prstGeom prst="roundRect">
            <a:avLst>
              <a:gd name="adj" fmla="val 2078"/>
            </a:avLst>
          </a:prstGeom>
          <a:solidFill>
            <a:srgbClr val="1C1917"/>
          </a:solidFill>
          <a:ln/>
        </p:spPr>
      </p:sp>
      <p:sp>
        <p:nvSpPr>
          <p:cNvPr id="19" name="Shape 17"/>
          <p:cNvSpPr/>
          <p:nvPr/>
        </p:nvSpPr>
        <p:spPr>
          <a:xfrm>
            <a:off x="8375904" y="1920240"/>
            <a:ext cx="384048" cy="384048"/>
          </a:xfrm>
          <a:prstGeom prst="ellipse">
            <a:avLst/>
          </a:prstGeom>
          <a:solidFill>
            <a:srgbClr val="FF7A3D"/>
          </a:solidFill>
          <a:ln/>
        </p:spPr>
      </p:sp>
      <p:sp>
        <p:nvSpPr>
          <p:cNvPr id="20" name="Text 18"/>
          <p:cNvSpPr/>
          <p:nvPr/>
        </p:nvSpPr>
        <p:spPr>
          <a:xfrm>
            <a:off x="8375904" y="1920240"/>
            <a:ext cx="384048" cy="384048"/>
          </a:xfrm>
          <a:prstGeom prst="rect">
            <a:avLst/>
          </a:prstGeom>
          <a:noFill/>
          <a:ln/>
        </p:spPr>
        <p:txBody>
          <a:bodyPr wrap="square" lIns="0" tIns="0" rIns="0" bIns="0" rtlCol="0" anchor="ctr"/>
          <a:lstStyle/>
          <a:p>
            <a:pPr algn="ctr" indent="0" marL="0">
              <a:buNone/>
            </a:pPr>
            <a:r>
              <a:rPr lang="en-US" sz="1300" b="1" dirty="0">
                <a:solidFill>
                  <a:srgbClr val="2A1405"/>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8375904" y="2423160"/>
            <a:ext cx="2971800" cy="548640"/>
          </a:xfrm>
          <a:prstGeom prst="rect">
            <a:avLst/>
          </a:prstGeom>
          <a:noFill/>
          <a:ln/>
        </p:spPr>
        <p:txBody>
          <a:bodyPr wrap="square" lIns="0" tIns="0" rIns="0" bIns="0" rtlCol="0" anchor="ctr"/>
          <a:lstStyle/>
          <a:p>
            <a:pPr indent="0" marL="0">
              <a:buNone/>
            </a:pPr>
            <a:r>
              <a:rPr lang="en-US" sz="1500" b="1" dirty="0">
                <a:solidFill>
                  <a:srgbClr val="F2EEE7"/>
                </a:solidFill>
                <a:latin typeface="Calibri" pitchFamily="34" charset="0"/>
                <a:ea typeface="Calibri" pitchFamily="34" charset="-122"/>
                <a:cs typeface="Calibri" pitchFamily="34" charset="-120"/>
              </a:rPr>
              <a:t>Two scores, two questions</a:t>
            </a:r>
            <a:endParaRPr lang="en-US" sz="1500" dirty="0"/>
          </a:p>
        </p:txBody>
      </p:sp>
      <p:sp>
        <p:nvSpPr>
          <p:cNvPr id="22" name="Shape 20"/>
          <p:cNvSpPr/>
          <p:nvPr/>
        </p:nvSpPr>
        <p:spPr>
          <a:xfrm>
            <a:off x="8375904" y="3017520"/>
            <a:ext cx="2971800" cy="868680"/>
          </a:xfrm>
          <a:prstGeom prst="roundRect">
            <a:avLst>
              <a:gd name="adj" fmla="val 8421"/>
            </a:avLst>
          </a:prstGeom>
          <a:solidFill>
            <a:srgbClr val="272220"/>
          </a:solidFill>
          <a:ln/>
        </p:spPr>
      </p:sp>
      <p:sp>
        <p:nvSpPr>
          <p:cNvPr id="23" name="Text 21"/>
          <p:cNvSpPr/>
          <p:nvPr/>
        </p:nvSpPr>
        <p:spPr>
          <a:xfrm>
            <a:off x="8485632" y="3108960"/>
            <a:ext cx="2743200" cy="713232"/>
          </a:xfrm>
          <a:prstGeom prst="rect">
            <a:avLst/>
          </a:prstGeom>
          <a:noFill/>
          <a:ln/>
        </p:spPr>
        <p:txBody>
          <a:bodyPr wrap="square" lIns="0" tIns="0" rIns="0" bIns="0" rtlCol="0" anchor="ctr"/>
          <a:lstStyle/>
          <a:p>
            <a:pPr indent="0" marL="0">
              <a:lnSpc>
                <a:spcPts val="1300"/>
              </a:lnSpc>
              <a:buNone/>
            </a:pPr>
            <a:r>
              <a:rPr lang="en-US" sz="950" dirty="0">
                <a:solidFill>
                  <a:srgbClr val="FFC46B"/>
                </a:solidFill>
                <a:latin typeface="Courier New" pitchFamily="34" charset="0"/>
                <a:ea typeface="Courier New" pitchFamily="34" charset="-122"/>
                <a:cs typeface="Courier New" pitchFamily="34" charset="-120"/>
              </a:rPr>
              <a:t>risk  ±8% clamp</a:t>
            </a:r>
            <a:endParaRPr lang="en-US" sz="950" dirty="0"/>
          </a:p>
          <a:p>
            <a:pPr indent="0" marL="0">
              <a:lnSpc>
                <a:spcPts val="1300"/>
              </a:lnSpc>
              <a:buNone/>
            </a:pPr>
            <a:r>
              <a:rPr lang="en-US" sz="950" dirty="0">
                <a:solidFill>
                  <a:srgbClr val="FFC46B"/>
                </a:solidFill>
                <a:latin typeface="Courier New" pitchFamily="34" charset="0"/>
                <a:ea typeface="Courier New" pitchFamily="34" charset="-122"/>
                <a:cs typeface="Courier New" pitchFamily="34" charset="-120"/>
              </a:rPr>
              <a:t>priority  ×0.4–3.0</a:t>
            </a:r>
            <a:endParaRPr lang="en-US" sz="950" dirty="0"/>
          </a:p>
        </p:txBody>
      </p:sp>
      <p:sp>
        <p:nvSpPr>
          <p:cNvPr id="24" name="Text 22"/>
          <p:cNvSpPr/>
          <p:nvPr/>
        </p:nvSpPr>
        <p:spPr>
          <a:xfrm>
            <a:off x="8375904" y="4041648"/>
            <a:ext cx="2971800" cy="1645920"/>
          </a:xfrm>
          <a:prstGeom prst="rect">
            <a:avLst/>
          </a:prstGeom>
          <a:noFill/>
          <a:ln/>
        </p:spPr>
        <p:txBody>
          <a:bodyPr wrap="square" lIns="0" tIns="0" rIns="0" bIns="0" rtlCol="0" anchor="ctr"/>
          <a:lstStyle/>
          <a:p>
            <a:pPr indent="0" marL="0">
              <a:lnSpc>
                <a:spcPts val="1500"/>
              </a:lnSpc>
              <a:buNone/>
            </a:pPr>
            <a:r>
              <a:rPr lang="en-US" sz="1100" dirty="0">
                <a:solidFill>
                  <a:srgbClr val="A89F92"/>
                </a:solidFill>
                <a:latin typeface="Calibri" pitchFamily="34" charset="0"/>
                <a:ea typeface="Calibri" pitchFamily="34" charset="-122"/>
                <a:cs typeface="Calibri" pitchFamily="34" charset="-120"/>
              </a:rPr>
              <a:t>A CRITICAL cannot be talked down into a MEDIUM by a flattering context multiplier. That is enforced by the clamp.</a:t>
            </a:r>
            <a:endParaRPr lang="en-US" sz="1100" dirty="0"/>
          </a:p>
          <a:p>
            <a:pPr indent="0" marL="0">
              <a:lnSpc>
                <a:spcPts val="1500"/>
              </a:lnSpc>
              <a:buNone/>
            </a:pPr>
            <a:endParaRPr lang="en-US" sz="1100" dirty="0"/>
          </a:p>
          <a:p>
            <a:pPr indent="0" marL="0">
              <a:lnSpc>
                <a:spcPts val="1500"/>
              </a:lnSpc>
              <a:buNone/>
            </a:pPr>
            <a:r>
              <a:rPr lang="en-US" sz="1100" dirty="0">
                <a:solidFill>
                  <a:srgbClr val="A89F92"/>
                </a:solidFill>
                <a:latin typeface="Calibri" pitchFamily="34" charset="0"/>
                <a:ea typeface="Calibri" pitchFamily="34" charset="-122"/>
                <a:cs typeface="Calibri" pitchFamily="34" charset="-120"/>
              </a:rPr>
              <a:t>But a MEDIUM on an internet-facing payment system outranks a CRITICAL in a dead batch job — and it should.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INTERFACE DESIGN</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We deleted the beautiful graph.</a:t>
            </a:r>
            <a:endParaRPr lang="en-US" sz="3400" dirty="0"/>
          </a:p>
        </p:txBody>
      </p:sp>
      <p:sp>
        <p:nvSpPr>
          <p:cNvPr id="4" name="Shape 2"/>
          <p:cNvSpPr/>
          <p:nvPr/>
        </p:nvSpPr>
        <p:spPr>
          <a:xfrm>
            <a:off x="548640" y="1737360"/>
            <a:ext cx="5440680" cy="3108960"/>
          </a:xfrm>
          <a:prstGeom prst="roundRect">
            <a:avLst>
              <a:gd name="adj" fmla="val 2353"/>
            </a:avLst>
          </a:prstGeom>
          <a:solidFill>
            <a:srgbClr val="1C1917"/>
          </a:solidFill>
          <a:ln/>
        </p:spPr>
      </p:sp>
      <p:sp>
        <p:nvSpPr>
          <p:cNvPr id="5" name="Text 3"/>
          <p:cNvSpPr/>
          <p:nvPr/>
        </p:nvSpPr>
        <p:spPr>
          <a:xfrm>
            <a:off x="868680" y="1965960"/>
            <a:ext cx="4846320" cy="320040"/>
          </a:xfrm>
          <a:prstGeom prst="rect">
            <a:avLst/>
          </a:prstGeom>
          <a:noFill/>
          <a:ln/>
        </p:spPr>
        <p:txBody>
          <a:bodyPr wrap="square" lIns="0" tIns="0" rIns="0" bIns="0" rtlCol="0" anchor="ctr"/>
          <a:lstStyle/>
          <a:p>
            <a:pPr indent="0" marL="0">
              <a:buNone/>
            </a:pPr>
            <a:r>
              <a:rPr lang="en-US" sz="1400" b="1" dirty="0">
                <a:solidFill>
                  <a:srgbClr val="FF5D5D"/>
                </a:solidFill>
                <a:latin typeface="Calibri" pitchFamily="34" charset="0"/>
                <a:ea typeface="Calibri" pitchFamily="34" charset="-122"/>
                <a:cs typeface="Calibri" pitchFamily="34" charset="-120"/>
              </a:rPr>
              <a:t>✕   The elegant one</a:t>
            </a:r>
            <a:endParaRPr lang="en-US" sz="1400" dirty="0"/>
          </a:p>
        </p:txBody>
      </p:sp>
      <p:sp>
        <p:nvSpPr>
          <p:cNvPr id="6" name="Text 4"/>
          <p:cNvSpPr/>
          <p:nvPr/>
        </p:nvSpPr>
        <p:spPr>
          <a:xfrm>
            <a:off x="868680" y="2395728"/>
            <a:ext cx="4846320" cy="2286000"/>
          </a:xfrm>
          <a:prstGeom prst="rect">
            <a:avLst/>
          </a:prstGeom>
          <a:noFill/>
          <a:ln/>
        </p:spPr>
        <p:txBody>
          <a:bodyPr wrap="square" lIns="0" tIns="0" rIns="0" bIns="0" rtlCol="0" anchor="ctr"/>
          <a:lstStyle/>
          <a:p>
            <a:pPr indent="0" marL="0">
              <a:lnSpc>
                <a:spcPts val="1700"/>
              </a:lnSpc>
              <a:buNone/>
            </a:pPr>
            <a:r>
              <a:rPr lang="en-US" sz="1200" dirty="0">
                <a:solidFill>
                  <a:srgbClr val="A89F92"/>
                </a:solidFill>
                <a:latin typeface="Calibri" pitchFamily="34" charset="0"/>
                <a:ea typeface="Calibri" pitchFamily="34" charset="-122"/>
                <a:cs typeface="Calibri" pitchFamily="34" charset="-120"/>
              </a:rPr>
              <a:t>Concentric orbits. Depth as radius. The application at the centre, the estate around it.</a:t>
            </a:r>
            <a:endParaRPr lang="en-US" sz="1200" dirty="0"/>
          </a:p>
          <a:p>
            <a:pPr indent="0" marL="0">
              <a:lnSpc>
                <a:spcPts val="1700"/>
              </a:lnSpc>
              <a:buNone/>
            </a:pPr>
            <a:endParaRPr lang="en-US" sz="1200" dirty="0"/>
          </a:p>
          <a:p>
            <a:pPr indent="0" marL="0">
              <a:lnSpc>
                <a:spcPts val="1700"/>
              </a:lnSpc>
              <a:buNone/>
            </a:pPr>
            <a:r>
              <a:rPr lang="en-US" sz="1200" dirty="0">
                <a:solidFill>
                  <a:srgbClr val="A89F92"/>
                </a:solidFill>
                <a:latin typeface="Calibri" pitchFamily="34" charset="0"/>
                <a:ea typeface="Calibri" pitchFamily="34" charset="-122"/>
                <a:cs typeface="Calibri" pitchFamily="34" charset="-120"/>
              </a:rPr>
              <a:t>It produced 500 unlabelled dots on a circle. You could see that something was burning and never once see WHAT — because a ring gives a label nowhere to live.</a:t>
            </a:r>
            <a:endParaRPr lang="en-US" sz="1200" dirty="0"/>
          </a:p>
          <a:p>
            <a:pPr indent="0" marL="0">
              <a:lnSpc>
                <a:spcPts val="1700"/>
              </a:lnSpc>
              <a:buNone/>
            </a:pPr>
            <a:endParaRPr lang="en-US" sz="1200" dirty="0"/>
          </a:p>
          <a:p>
            <a:pPr indent="0" marL="0">
              <a:lnSpc>
                <a:spcPts val="1700"/>
              </a:lnSpc>
              <a:buNone/>
            </a:pPr>
            <a:r>
              <a:rPr lang="en-US" sz="1200" dirty="0">
                <a:solidFill>
                  <a:srgbClr val="A89F92"/>
                </a:solidFill>
                <a:latin typeface="Calibri" pitchFamily="34" charset="0"/>
                <a:ea typeface="Calibri" pitchFamily="34" charset="-122"/>
                <a:cs typeface="Calibri" pitchFamily="34" charset="-120"/>
              </a:rPr>
              <a:t>A picture you cannot read is not a picture.</a:t>
            </a:r>
            <a:endParaRPr lang="en-US" sz="1200" dirty="0"/>
          </a:p>
        </p:txBody>
      </p:sp>
      <p:sp>
        <p:nvSpPr>
          <p:cNvPr id="7" name="Shape 5"/>
          <p:cNvSpPr/>
          <p:nvPr/>
        </p:nvSpPr>
        <p:spPr>
          <a:xfrm>
            <a:off x="6172200" y="1737360"/>
            <a:ext cx="5440680" cy="3108960"/>
          </a:xfrm>
          <a:prstGeom prst="roundRect">
            <a:avLst>
              <a:gd name="adj" fmla="val 2353"/>
            </a:avLst>
          </a:prstGeom>
          <a:solidFill>
            <a:srgbClr val="272220"/>
          </a:solidFill>
          <a:ln/>
        </p:spPr>
      </p:sp>
      <p:sp>
        <p:nvSpPr>
          <p:cNvPr id="8" name="Text 6"/>
          <p:cNvSpPr/>
          <p:nvPr/>
        </p:nvSpPr>
        <p:spPr>
          <a:xfrm>
            <a:off x="6492240" y="1965960"/>
            <a:ext cx="4846320" cy="320040"/>
          </a:xfrm>
          <a:prstGeom prst="rect">
            <a:avLst/>
          </a:prstGeom>
          <a:noFill/>
          <a:ln/>
        </p:spPr>
        <p:txBody>
          <a:bodyPr wrap="square" lIns="0" tIns="0" rIns="0" bIns="0" rtlCol="0" anchor="ctr"/>
          <a:lstStyle/>
          <a:p>
            <a:pPr indent="0" marL="0">
              <a:buNone/>
            </a:pPr>
            <a:r>
              <a:rPr lang="en-US" sz="1400" b="1" dirty="0">
                <a:solidFill>
                  <a:srgbClr val="5FCF9A"/>
                </a:solidFill>
                <a:latin typeface="Calibri" pitchFamily="34" charset="0"/>
                <a:ea typeface="Calibri" pitchFamily="34" charset="-122"/>
                <a:cs typeface="Calibri" pitchFamily="34" charset="-120"/>
              </a:rPr>
              <a:t>✓   The readable one</a:t>
            </a:r>
            <a:endParaRPr lang="en-US" sz="1400" dirty="0"/>
          </a:p>
        </p:txBody>
      </p:sp>
      <p:sp>
        <p:nvSpPr>
          <p:cNvPr id="9" name="Text 7"/>
          <p:cNvSpPr/>
          <p:nvPr/>
        </p:nvSpPr>
        <p:spPr>
          <a:xfrm>
            <a:off x="6492240" y="2395728"/>
            <a:ext cx="4846320" cy="2286000"/>
          </a:xfrm>
          <a:prstGeom prst="rect">
            <a:avLst/>
          </a:prstGeom>
          <a:noFill/>
          <a:ln/>
        </p:spPr>
        <p:txBody>
          <a:bodyPr wrap="square" lIns="0" tIns="0" rIns="0" bIns="0" rtlCol="0" anchor="ctr"/>
          <a:lstStyle/>
          <a:p>
            <a:pPr indent="0" marL="0">
              <a:lnSpc>
                <a:spcPts val="1700"/>
              </a:lnSpc>
              <a:buNone/>
            </a:pPr>
            <a:r>
              <a:rPr lang="en-US" sz="1200" dirty="0">
                <a:solidFill>
                  <a:srgbClr val="A89F92"/>
                </a:solidFill>
                <a:latin typeface="Calibri" pitchFamily="34" charset="0"/>
                <a:ea typeface="Calibri" pitchFamily="34" charset="-122"/>
                <a:cs typeface="Calibri" pitchFamily="34" charset="-120"/>
              </a:rPr>
              <a:t>Columns. Depth is the x-axis.</a:t>
            </a:r>
            <a:endParaRPr lang="en-US" sz="1200" dirty="0"/>
          </a:p>
          <a:p>
            <a:pPr indent="0" marL="0">
              <a:lnSpc>
                <a:spcPts val="1700"/>
              </a:lnSpc>
              <a:buNone/>
            </a:pPr>
            <a:endParaRPr lang="en-US" sz="1200" dirty="0"/>
          </a:p>
          <a:p>
            <a:pPr indent="0" marL="0">
              <a:lnSpc>
                <a:spcPts val="1700"/>
              </a:lnSpc>
              <a:buNone/>
            </a:pPr>
            <a:r>
              <a:rPr lang="en-US" sz="1200" dirty="0">
                <a:solidFill>
                  <a:srgbClr val="A89F92"/>
                </a:solidFill>
                <a:latin typeface="Calibri" pitchFamily="34" charset="0"/>
                <a:ea typeface="Calibri" pitchFamily="34" charset="-122"/>
                <a:cs typeface="Calibri" pitchFamily="34" charset="-120"/>
              </a:rPr>
              <a:t>Column one is code somebody on the team actually CHOSE. Everything right of it ARRIVED UNINVITED — and the further right, the fewer people knew it was there.</a:t>
            </a:r>
            <a:endParaRPr lang="en-US" sz="1200" dirty="0"/>
          </a:p>
          <a:p>
            <a:pPr indent="0" marL="0">
              <a:lnSpc>
                <a:spcPts val="1700"/>
              </a:lnSpc>
              <a:buNone/>
            </a:pPr>
            <a:endParaRPr lang="en-US" sz="1200" dirty="0"/>
          </a:p>
          <a:p>
            <a:pPr indent="0" marL="0">
              <a:lnSpc>
                <a:spcPts val="1700"/>
              </a:lnSpc>
              <a:buNone/>
            </a:pPr>
            <a:r>
              <a:rPr lang="en-US" sz="1200" dirty="0">
                <a:solidFill>
                  <a:srgbClr val="A89F92"/>
                </a:solidFill>
                <a:latin typeface="Calibri" pitchFamily="34" charset="0"/>
                <a:ea typeface="Calibri" pitchFamily="34" charset="-122"/>
                <a:cs typeface="Calibri" pitchFamily="34" charset="-120"/>
              </a:rPr>
              <a:t>Labels sit beside their node. Always on. That is the entire reason to prefer this to the prettier one.</a:t>
            </a:r>
            <a:endParaRPr lang="en-US" sz="1200" dirty="0"/>
          </a:p>
        </p:txBody>
      </p:sp>
      <p:sp>
        <p:nvSpPr>
          <p:cNvPr id="10" name="Shape 8"/>
          <p:cNvSpPr/>
          <p:nvPr/>
        </p:nvSpPr>
        <p:spPr>
          <a:xfrm>
            <a:off x="566928" y="5157216"/>
            <a:ext cx="109728" cy="109728"/>
          </a:xfrm>
          <a:prstGeom prst="ellipse">
            <a:avLst/>
          </a:prstGeom>
          <a:solidFill>
            <a:srgbClr val="FF7A3D"/>
          </a:solidFill>
          <a:ln/>
        </p:spPr>
      </p:sp>
      <p:sp>
        <p:nvSpPr>
          <p:cNvPr id="11" name="Text 9"/>
          <p:cNvSpPr/>
          <p:nvPr/>
        </p:nvSpPr>
        <p:spPr>
          <a:xfrm>
            <a:off x="868680" y="5074920"/>
            <a:ext cx="3200400" cy="274320"/>
          </a:xfrm>
          <a:prstGeom prst="rect">
            <a:avLst/>
          </a:prstGeom>
          <a:noFill/>
          <a:ln/>
        </p:spPr>
        <p:txBody>
          <a:bodyPr wrap="square" lIns="0" tIns="0" rIns="0" bIns="0" rtlCol="0" anchor="ctr"/>
          <a:lstStyle/>
          <a:p>
            <a:pPr indent="0" marL="0">
              <a:buNone/>
            </a:pPr>
            <a:r>
              <a:rPr lang="en-US" sz="1200" b="1" dirty="0">
                <a:solidFill>
                  <a:srgbClr val="F2EEE7"/>
                </a:solidFill>
                <a:latin typeface="Calibri" pitchFamily="34" charset="0"/>
                <a:ea typeface="Calibri" pitchFamily="34" charset="-122"/>
                <a:cs typeface="Calibri" pitchFamily="34" charset="-120"/>
              </a:rPr>
              <a:t>It does not draw everything.</a:t>
            </a:r>
            <a:endParaRPr lang="en-US" sz="1200" dirty="0"/>
          </a:p>
        </p:txBody>
      </p:sp>
      <p:sp>
        <p:nvSpPr>
          <p:cNvPr id="12" name="Text 10"/>
          <p:cNvSpPr/>
          <p:nvPr/>
        </p:nvSpPr>
        <p:spPr>
          <a:xfrm>
            <a:off x="4114800" y="5074920"/>
            <a:ext cx="7498080" cy="566928"/>
          </a:xfrm>
          <a:prstGeom prst="rect">
            <a:avLst/>
          </a:prstGeom>
          <a:noFill/>
          <a:ln/>
        </p:spPr>
        <p:txBody>
          <a:bodyPr wrap="square" lIns="0" tIns="0" rIns="0" bIns="0" rtlCol="0" anchor="ctr"/>
          <a:lstStyle/>
          <a:p>
            <a:pPr indent="0" marL="0">
              <a:lnSpc>
                <a:spcPts val="1400"/>
              </a:lnSpc>
              <a:buNone/>
            </a:pPr>
            <a:r>
              <a:rPr lang="en-US" sz="1100" dirty="0">
                <a:solidFill>
                  <a:srgbClr val="7E766A"/>
                </a:solidFill>
                <a:latin typeface="Calibri" pitchFamily="34" charset="0"/>
                <a:ea typeface="Calibri" pitchFamily="34" charset="-122"/>
                <a:cs typeface="Calibri" pitchFamily="34" charset="-120"/>
              </a:rPr>
              <a:t>500 nodes is a texture, not a visualisation. It draws what carries risk, plus the hops needed to reach it — because those hops ARE the answer to "how did this get in".</a:t>
            </a:r>
            <a:endParaRPr lang="en-US" sz="1100" dirty="0"/>
          </a:p>
        </p:txBody>
      </p:sp>
      <p:sp>
        <p:nvSpPr>
          <p:cNvPr id="13" name="Shape 11"/>
          <p:cNvSpPr/>
          <p:nvPr/>
        </p:nvSpPr>
        <p:spPr>
          <a:xfrm>
            <a:off x="566928" y="5815584"/>
            <a:ext cx="109728" cy="109728"/>
          </a:xfrm>
          <a:prstGeom prst="ellipse">
            <a:avLst/>
          </a:prstGeom>
          <a:solidFill>
            <a:srgbClr val="FF7A3D"/>
          </a:solidFill>
          <a:ln/>
        </p:spPr>
      </p:sp>
      <p:sp>
        <p:nvSpPr>
          <p:cNvPr id="14" name="Text 12"/>
          <p:cNvSpPr/>
          <p:nvPr/>
        </p:nvSpPr>
        <p:spPr>
          <a:xfrm>
            <a:off x="868680" y="5733288"/>
            <a:ext cx="3200400" cy="274320"/>
          </a:xfrm>
          <a:prstGeom prst="rect">
            <a:avLst/>
          </a:prstGeom>
          <a:noFill/>
          <a:ln/>
        </p:spPr>
        <p:txBody>
          <a:bodyPr wrap="square" lIns="0" tIns="0" rIns="0" bIns="0" rtlCol="0" anchor="ctr"/>
          <a:lstStyle/>
          <a:p>
            <a:pPr indent="0" marL="0">
              <a:buNone/>
            </a:pPr>
            <a:r>
              <a:rPr lang="en-US" sz="1200" b="1" dirty="0">
                <a:solidFill>
                  <a:srgbClr val="F2EEE7"/>
                </a:solidFill>
                <a:latin typeface="Calibri" pitchFamily="34" charset="0"/>
                <a:ea typeface="Calibri" pitchFamily="34" charset="-122"/>
                <a:cs typeface="Calibri" pitchFamily="34" charset="-120"/>
              </a:rPr>
              <a:t>Plain English is a first-class mode.</a:t>
            </a:r>
            <a:endParaRPr lang="en-US" sz="1200" dirty="0"/>
          </a:p>
        </p:txBody>
      </p:sp>
      <p:sp>
        <p:nvSpPr>
          <p:cNvPr id="15" name="Text 13"/>
          <p:cNvSpPr/>
          <p:nvPr/>
        </p:nvSpPr>
        <p:spPr>
          <a:xfrm>
            <a:off x="4114800" y="5733288"/>
            <a:ext cx="7498080" cy="566928"/>
          </a:xfrm>
          <a:prstGeom prst="rect">
            <a:avLst/>
          </a:prstGeom>
          <a:noFill/>
          <a:ln/>
        </p:spPr>
        <p:txBody>
          <a:bodyPr wrap="square" lIns="0" tIns="0" rIns="0" bIns="0" rtlCol="0" anchor="ctr"/>
          <a:lstStyle/>
          <a:p>
            <a:pPr indent="0" marL="0">
              <a:lnSpc>
                <a:spcPts val="1400"/>
              </a:lnSpc>
              <a:buNone/>
            </a:pPr>
            <a:r>
              <a:rPr lang="en-US" sz="1100" dirty="0">
                <a:solidFill>
                  <a:srgbClr val="7E766A"/>
                </a:solidFill>
                <a:latin typeface="Calibri" pitchFamily="34" charset="0"/>
                <a:ea typeface="Calibri" pitchFamily="34" charset="-122"/>
                <a:cs typeface="Calibri" pitchFamily="34" charset="-120"/>
              </a:rPr>
              <a:t>GRC work is done by risk officers, not only engineers. A tool only engineers can read produces tickets nobody trusts.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THE HARD HALF</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Detection is arithmetic. Suppression is judgement.</a:t>
            </a:r>
            <a:endParaRPr lang="en-US" sz="3400" dirty="0"/>
          </a:p>
        </p:txBody>
      </p:sp>
      <p:sp>
        <p:nvSpPr>
          <p:cNvPr id="4" name="Text 2"/>
          <p:cNvSpPr/>
          <p:nvPr/>
        </p:nvSpPr>
        <p:spPr>
          <a:xfrm>
            <a:off x="548640" y="1691640"/>
            <a:ext cx="11064240" cy="640080"/>
          </a:xfrm>
          <a:prstGeom prst="rect">
            <a:avLst/>
          </a:prstGeom>
          <a:noFill/>
          <a:ln/>
        </p:spPr>
        <p:txBody>
          <a:bodyPr wrap="square" lIns="0" tIns="0" rIns="0" bIns="0" rtlCol="0" anchor="ctr"/>
          <a:lstStyle/>
          <a:p>
            <a:pPr indent="0" marL="0">
              <a:lnSpc>
                <a:spcPts val="2000"/>
              </a:lnSpc>
              <a:buNone/>
            </a:pPr>
            <a:r>
              <a:rPr lang="en-US" sz="1400" dirty="0">
                <a:solidFill>
                  <a:srgbClr val="A89F92"/>
                </a:solidFill>
                <a:latin typeface="Calibri" pitchFamily="34" charset="0"/>
                <a:ea typeface="Calibri" pitchFamily="34" charset="-122"/>
                <a:cs typeface="Calibri" pitchFamily="34" charset="-120"/>
              </a:rPr>
              <a:t>A scanner that cries wolf gets switched off — which is strictly worse than having no scanner at all.</a:t>
            </a:r>
            <a:endParaRPr lang="en-US" sz="1400" dirty="0"/>
          </a:p>
          <a:p>
            <a:pPr indent="0" marL="0">
              <a:lnSpc>
                <a:spcPts val="2000"/>
              </a:lnSpc>
              <a:buNone/>
            </a:pPr>
            <a:r>
              <a:rPr lang="en-US" sz="1400" dirty="0">
                <a:solidFill>
                  <a:srgbClr val="A89F92"/>
                </a:solidFill>
                <a:latin typeface="Calibri" pitchFamily="34" charset="0"/>
                <a:ea typeface="Calibri" pitchFamily="34" charset="-122"/>
                <a:cs typeface="Calibri" pitchFamily="34" charset="-120"/>
              </a:rPr>
              <a:t>So a finding is suppressed only when it is genuinely not actionable:</a:t>
            </a:r>
            <a:endParaRPr lang="en-US" sz="1400" dirty="0"/>
          </a:p>
        </p:txBody>
      </p:sp>
      <p:sp>
        <p:nvSpPr>
          <p:cNvPr id="5" name="Shape 3"/>
          <p:cNvSpPr/>
          <p:nvPr/>
        </p:nvSpPr>
        <p:spPr>
          <a:xfrm>
            <a:off x="548640" y="2606040"/>
            <a:ext cx="11064240" cy="713232"/>
          </a:xfrm>
          <a:prstGeom prst="roundRect">
            <a:avLst>
              <a:gd name="adj" fmla="val 10256"/>
            </a:avLst>
          </a:prstGeom>
          <a:solidFill>
            <a:srgbClr val="1C1917"/>
          </a:solidFill>
          <a:ln/>
        </p:spPr>
      </p:sp>
      <p:sp>
        <p:nvSpPr>
          <p:cNvPr id="6" name="Text 4"/>
          <p:cNvSpPr/>
          <p:nvPr/>
        </p:nvSpPr>
        <p:spPr>
          <a:xfrm>
            <a:off x="868680" y="2807208"/>
            <a:ext cx="3200400" cy="310896"/>
          </a:xfrm>
          <a:prstGeom prst="rect">
            <a:avLst/>
          </a:prstGeom>
          <a:noFill/>
          <a:ln/>
        </p:spPr>
        <p:txBody>
          <a:bodyPr wrap="square" lIns="0" tIns="0" rIns="0" bIns="0" rtlCol="0" anchor="ctr"/>
          <a:lstStyle/>
          <a:p>
            <a:pPr indent="0" marL="0">
              <a:buNone/>
            </a:pPr>
            <a:r>
              <a:rPr lang="en-US" sz="1100" b="1" dirty="0">
                <a:solidFill>
                  <a:srgbClr val="FFC46B"/>
                </a:solidFill>
                <a:latin typeface="Courier New" pitchFamily="34" charset="0"/>
                <a:ea typeface="Courier New" pitchFamily="34" charset="-122"/>
                <a:cs typeface="Courier New" pitchFamily="34" charset="-120"/>
              </a:rPr>
              <a:t>patched_in_build</a:t>
            </a:r>
            <a:endParaRPr lang="en-US" sz="1100" dirty="0"/>
          </a:p>
        </p:txBody>
      </p:sp>
      <p:sp>
        <p:nvSpPr>
          <p:cNvPr id="7" name="Text 5"/>
          <p:cNvSpPr/>
          <p:nvPr/>
        </p:nvSpPr>
        <p:spPr>
          <a:xfrm>
            <a:off x="4297680" y="2807208"/>
            <a:ext cx="7040880" cy="310896"/>
          </a:xfrm>
          <a:prstGeom prst="rect">
            <a:avLst/>
          </a:prstGeom>
          <a:noFill/>
          <a:ln/>
        </p:spPr>
        <p:txBody>
          <a:bodyPr wrap="square" lIns="0" tIns="0" rIns="0" bIns="0" rtlCol="0" anchor="ctr"/>
          <a:lstStyle/>
          <a:p>
            <a:pPr indent="0" marL="0">
              <a:buNone/>
            </a:pPr>
            <a:r>
              <a:rPr lang="en-US" sz="1200" dirty="0">
                <a:solidFill>
                  <a:srgbClr val="A89F92"/>
                </a:solidFill>
                <a:latin typeface="Calibri" pitchFamily="34" charset="0"/>
                <a:ea typeface="Calibri" pitchFamily="34" charset="-122"/>
                <a:cs typeface="Calibri" pitchFamily="34" charset="-120"/>
              </a:rPr>
              <a:t>The build carries a backported fix. The version matches the CVE range and is not vulnerable.</a:t>
            </a:r>
            <a:endParaRPr lang="en-US" sz="1200" dirty="0"/>
          </a:p>
        </p:txBody>
      </p:sp>
      <p:sp>
        <p:nvSpPr>
          <p:cNvPr id="8" name="Shape 6"/>
          <p:cNvSpPr/>
          <p:nvPr/>
        </p:nvSpPr>
        <p:spPr>
          <a:xfrm>
            <a:off x="548640" y="3474720"/>
            <a:ext cx="11064240" cy="713232"/>
          </a:xfrm>
          <a:prstGeom prst="roundRect">
            <a:avLst>
              <a:gd name="adj" fmla="val 10256"/>
            </a:avLst>
          </a:prstGeom>
          <a:solidFill>
            <a:srgbClr val="1C1917"/>
          </a:solidFill>
          <a:ln/>
        </p:spPr>
      </p:sp>
      <p:sp>
        <p:nvSpPr>
          <p:cNvPr id="9" name="Text 7"/>
          <p:cNvSpPr/>
          <p:nvPr/>
        </p:nvSpPr>
        <p:spPr>
          <a:xfrm>
            <a:off x="868680" y="3675888"/>
            <a:ext cx="3200400" cy="310896"/>
          </a:xfrm>
          <a:prstGeom prst="rect">
            <a:avLst/>
          </a:prstGeom>
          <a:noFill/>
          <a:ln/>
        </p:spPr>
        <p:txBody>
          <a:bodyPr wrap="square" lIns="0" tIns="0" rIns="0" bIns="0" rtlCol="0" anchor="ctr"/>
          <a:lstStyle/>
          <a:p>
            <a:pPr indent="0" marL="0">
              <a:buNone/>
            </a:pPr>
            <a:r>
              <a:rPr lang="en-US" sz="1100" b="1" dirty="0">
                <a:solidFill>
                  <a:srgbClr val="FFC46B"/>
                </a:solidFill>
                <a:latin typeface="Courier New" pitchFamily="34" charset="0"/>
                <a:ea typeface="Courier New" pitchFamily="34" charset="-122"/>
                <a:cs typeface="Courier New" pitchFamily="34" charset="-120"/>
              </a:rPr>
              <a:t>vulnerable_function_used = false</a:t>
            </a:r>
            <a:endParaRPr lang="en-US" sz="1100" dirty="0"/>
          </a:p>
        </p:txBody>
      </p:sp>
      <p:sp>
        <p:nvSpPr>
          <p:cNvPr id="10" name="Text 8"/>
          <p:cNvSpPr/>
          <p:nvPr/>
        </p:nvSpPr>
        <p:spPr>
          <a:xfrm>
            <a:off x="4297680" y="3675888"/>
            <a:ext cx="7040880" cy="310896"/>
          </a:xfrm>
          <a:prstGeom prst="rect">
            <a:avLst/>
          </a:prstGeom>
          <a:noFill/>
          <a:ln/>
        </p:spPr>
        <p:txBody>
          <a:bodyPr wrap="square" lIns="0" tIns="0" rIns="0" bIns="0" rtlCol="0" anchor="ctr"/>
          <a:lstStyle/>
          <a:p>
            <a:pPr indent="0" marL="0">
              <a:buNone/>
            </a:pPr>
            <a:r>
              <a:rPr lang="en-US" sz="1200" dirty="0">
                <a:solidFill>
                  <a:srgbClr val="A89F92"/>
                </a:solidFill>
                <a:latin typeface="Calibri" pitchFamily="34" charset="0"/>
                <a:ea typeface="Calibri" pitchFamily="34" charset="-122"/>
                <a:cs typeface="Calibri" pitchFamily="34" charset="-120"/>
              </a:rPr>
              <a:t>The flawed code path is never called. The library is present; the vulnerability is not.</a:t>
            </a:r>
            <a:endParaRPr lang="en-US" sz="1200" dirty="0"/>
          </a:p>
        </p:txBody>
      </p:sp>
      <p:sp>
        <p:nvSpPr>
          <p:cNvPr id="11" name="Shape 9"/>
          <p:cNvSpPr/>
          <p:nvPr/>
        </p:nvSpPr>
        <p:spPr>
          <a:xfrm>
            <a:off x="548640" y="4343400"/>
            <a:ext cx="11064240" cy="713232"/>
          </a:xfrm>
          <a:prstGeom prst="roundRect">
            <a:avLst>
              <a:gd name="adj" fmla="val 10256"/>
            </a:avLst>
          </a:prstGeom>
          <a:solidFill>
            <a:srgbClr val="1C1917"/>
          </a:solidFill>
          <a:ln/>
        </p:spPr>
      </p:sp>
      <p:sp>
        <p:nvSpPr>
          <p:cNvPr id="12" name="Text 10"/>
          <p:cNvSpPr/>
          <p:nvPr/>
        </p:nvSpPr>
        <p:spPr>
          <a:xfrm>
            <a:off x="868680" y="4544568"/>
            <a:ext cx="3200400" cy="310896"/>
          </a:xfrm>
          <a:prstGeom prst="rect">
            <a:avLst/>
          </a:prstGeom>
          <a:noFill/>
          <a:ln/>
        </p:spPr>
        <p:txBody>
          <a:bodyPr wrap="square" lIns="0" tIns="0" rIns="0" bIns="0" rtlCol="0" anchor="ctr"/>
          <a:lstStyle/>
          <a:p>
            <a:pPr indent="0" marL="0">
              <a:buNone/>
            </a:pPr>
            <a:r>
              <a:rPr lang="en-US" sz="1100" b="1" dirty="0">
                <a:solidFill>
                  <a:srgbClr val="FFC46B"/>
                </a:solidFill>
                <a:latin typeface="Courier New" pitchFamily="34" charset="0"/>
                <a:ea typeface="Courier New" pitchFamily="34" charset="-122"/>
                <a:cs typeface="Courier New" pitchFamily="34" charset="-120"/>
              </a:rPr>
              <a:t>unreachable</a:t>
            </a:r>
            <a:endParaRPr lang="en-US" sz="1100" dirty="0"/>
          </a:p>
        </p:txBody>
      </p:sp>
      <p:sp>
        <p:nvSpPr>
          <p:cNvPr id="13" name="Text 11"/>
          <p:cNvSpPr/>
          <p:nvPr/>
        </p:nvSpPr>
        <p:spPr>
          <a:xfrm>
            <a:off x="4297680" y="4544568"/>
            <a:ext cx="7040880" cy="310896"/>
          </a:xfrm>
          <a:prstGeom prst="rect">
            <a:avLst/>
          </a:prstGeom>
          <a:noFill/>
          <a:ln/>
        </p:spPr>
        <p:txBody>
          <a:bodyPr wrap="square" lIns="0" tIns="0" rIns="0" bIns="0" rtlCol="0" anchor="ctr"/>
          <a:lstStyle/>
          <a:p>
            <a:pPr indent="0" marL="0">
              <a:buNone/>
            </a:pPr>
            <a:r>
              <a:rPr lang="en-US" sz="1200" dirty="0">
                <a:solidFill>
                  <a:srgbClr val="A89F92"/>
                </a:solidFill>
                <a:latin typeface="Calibri" pitchFamily="34" charset="0"/>
                <a:ea typeface="Calibri" pitchFamily="34" charset="-122"/>
                <a:cs typeface="Calibri" pitchFamily="34" charset="-120"/>
              </a:rPr>
              <a:t>No path from any entry point. It cannot be exploited because it cannot be reached.</a:t>
            </a:r>
            <a:endParaRPr lang="en-US" sz="1200" dirty="0"/>
          </a:p>
        </p:txBody>
      </p:sp>
      <p:sp>
        <p:nvSpPr>
          <p:cNvPr id="14" name="Shape 12"/>
          <p:cNvSpPr/>
          <p:nvPr/>
        </p:nvSpPr>
        <p:spPr>
          <a:xfrm>
            <a:off x="548640" y="5303520"/>
            <a:ext cx="11064240" cy="914400"/>
          </a:xfrm>
          <a:prstGeom prst="roundRect">
            <a:avLst>
              <a:gd name="adj" fmla="val 8000"/>
            </a:avLst>
          </a:prstGeom>
          <a:solidFill>
            <a:srgbClr val="272220"/>
          </a:solidFill>
          <a:ln/>
        </p:spPr>
      </p:sp>
      <p:sp>
        <p:nvSpPr>
          <p:cNvPr id="15" name="Text 13"/>
          <p:cNvSpPr/>
          <p:nvPr/>
        </p:nvSpPr>
        <p:spPr>
          <a:xfrm>
            <a:off x="868680" y="5486400"/>
            <a:ext cx="1554480" cy="548640"/>
          </a:xfrm>
          <a:prstGeom prst="rect">
            <a:avLst/>
          </a:prstGeom>
          <a:noFill/>
          <a:ln/>
        </p:spPr>
        <p:txBody>
          <a:bodyPr wrap="square" lIns="0" tIns="0" rIns="0" bIns="0" rtlCol="0" anchor="ctr"/>
          <a:lstStyle/>
          <a:p>
            <a:pPr algn="ctr" indent="0" marL="0">
              <a:buNone/>
            </a:pPr>
            <a:r>
              <a:rPr lang="en-US" sz="2800" b="1" dirty="0">
                <a:solidFill>
                  <a:srgbClr val="5FCF9A"/>
                </a:solidFill>
                <a:latin typeface="Cambria" pitchFamily="34" charset="0"/>
                <a:ea typeface="Cambria" pitchFamily="34" charset="-122"/>
                <a:cs typeface="Cambria" pitchFamily="34" charset="-120"/>
              </a:rPr>
              <a:t>19 / 19</a:t>
            </a:r>
            <a:endParaRPr lang="en-US" sz="2800" dirty="0"/>
          </a:p>
        </p:txBody>
      </p:sp>
      <p:sp>
        <p:nvSpPr>
          <p:cNvPr id="16" name="Text 14"/>
          <p:cNvSpPr/>
          <p:nvPr/>
        </p:nvSpPr>
        <p:spPr>
          <a:xfrm>
            <a:off x="2651760" y="5486400"/>
            <a:ext cx="8686800" cy="548640"/>
          </a:xfrm>
          <a:prstGeom prst="rect">
            <a:avLst/>
          </a:prstGeom>
          <a:noFill/>
          <a:ln/>
        </p:spPr>
        <p:txBody>
          <a:bodyPr wrap="square" lIns="0" tIns="0" rIns="0" bIns="0" rtlCol="0" anchor="ctr"/>
          <a:lstStyle/>
          <a:p>
            <a:pPr indent="0" marL="0">
              <a:lnSpc>
                <a:spcPts val="1700"/>
              </a:lnSpc>
              <a:buNone/>
            </a:pPr>
            <a:r>
              <a:rPr lang="en-US" sz="1250" dirty="0">
                <a:solidFill>
                  <a:srgbClr val="A89F92"/>
                </a:solidFill>
                <a:latin typeface="Calibri" pitchFamily="34" charset="0"/>
                <a:ea typeface="Calibri" pitchFamily="34" charset="-122"/>
                <a:cs typeface="Calibri" pitchFamily="34" charset="-120"/>
              </a:rPr>
              <a:t>false-positive traps defused on the synthetic corpus — versions that match a CVE range but carry a</a:t>
            </a:r>
            <a:endParaRPr lang="en-US" sz="1250" dirty="0"/>
          </a:p>
          <a:p>
            <a:pPr indent="0" marL="0">
              <a:lnSpc>
                <a:spcPts val="1700"/>
              </a:lnSpc>
              <a:buNone/>
            </a:pPr>
            <a:r>
              <a:rPr lang="en-US" sz="1250" dirty="0">
                <a:solidFill>
                  <a:srgbClr val="A89F92"/>
                </a:solidFill>
                <a:latin typeface="Calibri" pitchFamily="34" charset="0"/>
                <a:ea typeface="Calibri" pitchFamily="34" charset="-122"/>
                <a:cs typeface="Calibri" pitchFamily="34" charset="-120"/>
              </a:rPr>
              <a:t>backported patch — while missing zero true positives.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THE FINDING</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We audited your dataset. It contradicts itself.</a:t>
            </a:r>
            <a:endParaRPr lang="en-US" sz="3400" dirty="0"/>
          </a:p>
        </p:txBody>
      </p:sp>
      <p:sp>
        <p:nvSpPr>
          <p:cNvPr id="4" name="Text 2"/>
          <p:cNvSpPr/>
          <p:nvPr/>
        </p:nvSpPr>
        <p:spPr>
          <a:xfrm>
            <a:off x="548640" y="1645920"/>
            <a:ext cx="11064240" cy="640080"/>
          </a:xfrm>
          <a:prstGeom prst="rect">
            <a:avLst/>
          </a:prstGeom>
          <a:noFill/>
          <a:ln/>
        </p:spPr>
        <p:txBody>
          <a:bodyPr wrap="square" lIns="0" tIns="0" rIns="0" bIns="0" rtlCol="0" anchor="ctr"/>
          <a:lstStyle/>
          <a:p>
            <a:pPr indent="0" marL="0">
              <a:lnSpc>
                <a:spcPts val="1900"/>
              </a:lnSpc>
              <a:buNone/>
            </a:pPr>
            <a:r>
              <a:rPr lang="en-US" sz="1350" dirty="0">
                <a:solidFill>
                  <a:srgbClr val="A89F92"/>
                </a:solidFill>
                <a:latin typeface="Calibri" pitchFamily="34" charset="0"/>
                <a:ea typeface="Calibri" pitchFamily="34" charset="-122"/>
                <a:cs typeface="Calibri" pitchFamily="34" charset="-120"/>
              </a:rPr>
              <a:t>Our data-quality control fires BEFORE any scoring. On the official PB-10 data it fired immediately:</a:t>
            </a:r>
            <a:endParaRPr lang="en-US" sz="1350" dirty="0"/>
          </a:p>
          <a:p>
            <a:pPr indent="0" marL="0">
              <a:lnSpc>
                <a:spcPts val="1900"/>
              </a:lnSpc>
              <a:buNone/>
            </a:pPr>
            <a:r>
              <a:rPr lang="en-US" sz="1350" dirty="0">
                <a:solidFill>
                  <a:srgbClr val="A89F92"/>
                </a:solidFill>
                <a:latin typeface="Calibri" pitchFamily="34" charset="0"/>
                <a:ea typeface="Calibri" pitchFamily="34" charset="-122"/>
                <a:cs typeface="Calibri" pitchFamily="34" charset="-120"/>
              </a:rPr>
              <a:t>strict version-range matching recovers only 25.6% of the vulnerabilities the labels themselves declare.</a:t>
            </a:r>
            <a:endParaRPr lang="en-US" sz="1350" dirty="0"/>
          </a:p>
        </p:txBody>
      </p:sp>
      <p:sp>
        <p:nvSpPr>
          <p:cNvPr id="5" name="Shape 3"/>
          <p:cNvSpPr/>
          <p:nvPr/>
        </p:nvSpPr>
        <p:spPr>
          <a:xfrm>
            <a:off x="548640" y="2468880"/>
            <a:ext cx="11064240" cy="2514600"/>
          </a:xfrm>
          <a:prstGeom prst="roundRect">
            <a:avLst>
              <a:gd name="adj" fmla="val 2909"/>
            </a:avLst>
          </a:prstGeom>
          <a:solidFill>
            <a:srgbClr val="272220"/>
          </a:solidFill>
          <a:ln/>
        </p:spPr>
      </p:sp>
      <p:sp>
        <p:nvSpPr>
          <p:cNvPr id="6" name="Text 4"/>
          <p:cNvSpPr/>
          <p:nvPr/>
        </p:nvSpPr>
        <p:spPr>
          <a:xfrm>
            <a:off x="868680" y="2651760"/>
            <a:ext cx="10424160" cy="292608"/>
          </a:xfrm>
          <a:prstGeom prst="rect">
            <a:avLst/>
          </a:prstGeom>
          <a:noFill/>
          <a:ln/>
        </p:spPr>
        <p:txBody>
          <a:bodyPr wrap="square" lIns="0" tIns="0" rIns="0" bIns="0" rtlCol="0" anchor="ctr"/>
          <a:lstStyle/>
          <a:p>
            <a:pPr indent="0" marL="0">
              <a:buNone/>
            </a:pPr>
            <a:r>
              <a:rPr lang="en-US" sz="1200" b="1" dirty="0">
                <a:solidFill>
                  <a:srgbClr val="FFC46B"/>
                </a:solidFill>
                <a:latin typeface="Courier New" pitchFamily="34" charset="0"/>
                <a:ea typeface="Courier New" pitchFamily="34" charset="-122"/>
                <a:cs typeface="Courier New" pitchFamily="34" charset="-120"/>
              </a:rPr>
              <a:t>log4j-api      CVE-2022-1041 affects  [ 4.7.0 .. 4.10.1 )</a:t>
            </a:r>
            <a:endParaRPr lang="en-US" sz="1200" dirty="0"/>
          </a:p>
        </p:txBody>
      </p:sp>
      <p:sp>
        <p:nvSpPr>
          <p:cNvPr id="7" name="Text 5"/>
          <p:cNvSpPr/>
          <p:nvPr/>
        </p:nvSpPr>
        <p:spPr>
          <a:xfrm>
            <a:off x="1051560" y="3063240"/>
            <a:ext cx="1097280" cy="292608"/>
          </a:xfrm>
          <a:prstGeom prst="rect">
            <a:avLst/>
          </a:prstGeom>
          <a:noFill/>
          <a:ln/>
        </p:spPr>
        <p:txBody>
          <a:bodyPr wrap="square" lIns="0" tIns="0" rIns="0" bIns="0" rtlCol="0" anchor="ctr"/>
          <a:lstStyle/>
          <a:p>
            <a:pPr indent="0" marL="0">
              <a:buNone/>
            </a:pPr>
            <a:r>
              <a:rPr lang="en-US" sz="1150" dirty="0">
                <a:solidFill>
                  <a:srgbClr val="F2EEE7"/>
                </a:solidFill>
                <a:latin typeface="Courier New" pitchFamily="34" charset="0"/>
                <a:ea typeface="Courier New" pitchFamily="34" charset="-122"/>
                <a:cs typeface="Courier New" pitchFamily="34" charset="-120"/>
              </a:rPr>
              <a:t>v2.3.3</a:t>
            </a:r>
            <a:endParaRPr lang="en-US" sz="1150" dirty="0"/>
          </a:p>
        </p:txBody>
      </p:sp>
      <p:sp>
        <p:nvSpPr>
          <p:cNvPr id="8" name="Text 6"/>
          <p:cNvSpPr/>
          <p:nvPr/>
        </p:nvSpPr>
        <p:spPr>
          <a:xfrm>
            <a:off x="2240280" y="3063240"/>
            <a:ext cx="3291840" cy="292608"/>
          </a:xfrm>
          <a:prstGeom prst="rect">
            <a:avLst/>
          </a:prstGeom>
          <a:noFill/>
          <a:ln/>
        </p:spPr>
        <p:txBody>
          <a:bodyPr wrap="square" lIns="0" tIns="0" rIns="0" bIns="0" rtlCol="0" anchor="ctr"/>
          <a:lstStyle/>
          <a:p>
            <a:pPr indent="0" marL="0">
              <a:buNone/>
            </a:pPr>
            <a:r>
              <a:rPr lang="en-US" sz="1150" dirty="0">
                <a:solidFill>
                  <a:srgbClr val="7E766A"/>
                </a:solidFill>
                <a:latin typeface="Courier New" pitchFamily="34" charset="0"/>
                <a:ea typeface="Courier New" pitchFamily="34" charset="-122"/>
                <a:cs typeface="Courier New" pitchFamily="34" charset="-120"/>
              </a:rPr>
              <a:t>outside the affected range</a:t>
            </a:r>
            <a:endParaRPr lang="en-US" sz="1150" dirty="0"/>
          </a:p>
        </p:txBody>
      </p:sp>
      <p:sp>
        <p:nvSpPr>
          <p:cNvPr id="9" name="Text 7"/>
          <p:cNvSpPr/>
          <p:nvPr/>
        </p:nvSpPr>
        <p:spPr>
          <a:xfrm>
            <a:off x="5760720" y="3063240"/>
            <a:ext cx="4114800" cy="292608"/>
          </a:xfrm>
          <a:prstGeom prst="rect">
            <a:avLst/>
          </a:prstGeom>
          <a:noFill/>
          <a:ln/>
        </p:spPr>
        <p:txBody>
          <a:bodyPr wrap="square" lIns="0" tIns="0" rIns="0" bIns="0" rtlCol="0" anchor="ctr"/>
          <a:lstStyle/>
          <a:p>
            <a:pPr indent="0" marL="0">
              <a:buNone/>
            </a:pPr>
            <a:r>
              <a:rPr lang="en-US" sz="1150" dirty="0">
                <a:solidFill>
                  <a:srgbClr val="FF5D5D"/>
                </a:solidFill>
                <a:latin typeface="Courier New" pitchFamily="34" charset="0"/>
                <a:ea typeface="Courier New" pitchFamily="34" charset="-122"/>
                <a:cs typeface="Courier New" pitchFamily="34" charset="-120"/>
              </a:rPr>
              <a:t>→   labelled VULNERABLE</a:t>
            </a:r>
            <a:endParaRPr lang="en-US" sz="1150" dirty="0"/>
          </a:p>
        </p:txBody>
      </p:sp>
      <p:sp>
        <p:nvSpPr>
          <p:cNvPr id="10" name="Text 8"/>
          <p:cNvSpPr/>
          <p:nvPr/>
        </p:nvSpPr>
        <p:spPr>
          <a:xfrm>
            <a:off x="1051560" y="3447288"/>
            <a:ext cx="1097280" cy="292608"/>
          </a:xfrm>
          <a:prstGeom prst="rect">
            <a:avLst/>
          </a:prstGeom>
          <a:noFill/>
          <a:ln/>
        </p:spPr>
        <p:txBody>
          <a:bodyPr wrap="square" lIns="0" tIns="0" rIns="0" bIns="0" rtlCol="0" anchor="ctr"/>
          <a:lstStyle/>
          <a:p>
            <a:pPr indent="0" marL="0">
              <a:buNone/>
            </a:pPr>
            <a:r>
              <a:rPr lang="en-US" sz="1150" dirty="0">
                <a:solidFill>
                  <a:srgbClr val="F2EEE7"/>
                </a:solidFill>
                <a:latin typeface="Courier New" pitchFamily="34" charset="0"/>
                <a:ea typeface="Courier New" pitchFamily="34" charset="-122"/>
                <a:cs typeface="Courier New" pitchFamily="34" charset="-120"/>
              </a:rPr>
              <a:t>v4.8.3</a:t>
            </a:r>
            <a:endParaRPr lang="en-US" sz="1150" dirty="0"/>
          </a:p>
        </p:txBody>
      </p:sp>
      <p:sp>
        <p:nvSpPr>
          <p:cNvPr id="11" name="Text 9"/>
          <p:cNvSpPr/>
          <p:nvPr/>
        </p:nvSpPr>
        <p:spPr>
          <a:xfrm>
            <a:off x="2240280" y="3447288"/>
            <a:ext cx="3291840" cy="292608"/>
          </a:xfrm>
          <a:prstGeom prst="rect">
            <a:avLst/>
          </a:prstGeom>
          <a:noFill/>
          <a:ln/>
        </p:spPr>
        <p:txBody>
          <a:bodyPr wrap="square" lIns="0" tIns="0" rIns="0" bIns="0" rtlCol="0" anchor="ctr"/>
          <a:lstStyle/>
          <a:p>
            <a:pPr indent="0" marL="0">
              <a:buNone/>
            </a:pPr>
            <a:r>
              <a:rPr lang="en-US" sz="1150" dirty="0">
                <a:solidFill>
                  <a:srgbClr val="FFC46B"/>
                </a:solidFill>
                <a:latin typeface="Courier New" pitchFamily="34" charset="0"/>
                <a:ea typeface="Courier New" pitchFamily="34" charset="-122"/>
                <a:cs typeface="Courier New" pitchFamily="34" charset="-120"/>
              </a:rPr>
              <a:t>INSIDE  the affected range</a:t>
            </a:r>
            <a:endParaRPr lang="en-US" sz="1150" dirty="0"/>
          </a:p>
        </p:txBody>
      </p:sp>
      <p:sp>
        <p:nvSpPr>
          <p:cNvPr id="12" name="Text 10"/>
          <p:cNvSpPr/>
          <p:nvPr/>
        </p:nvSpPr>
        <p:spPr>
          <a:xfrm>
            <a:off x="5760720" y="3447288"/>
            <a:ext cx="4114800" cy="292608"/>
          </a:xfrm>
          <a:prstGeom prst="rect">
            <a:avLst/>
          </a:prstGeom>
          <a:noFill/>
          <a:ln/>
        </p:spPr>
        <p:txBody>
          <a:bodyPr wrap="square" lIns="0" tIns="0" rIns="0" bIns="0" rtlCol="0" anchor="ctr"/>
          <a:lstStyle/>
          <a:p>
            <a:pPr indent="0" marL="0">
              <a:buNone/>
            </a:pPr>
            <a:r>
              <a:rPr lang="en-US" sz="1150" b="1" dirty="0">
                <a:solidFill>
                  <a:srgbClr val="5FCF9A"/>
                </a:solidFill>
                <a:latin typeface="Courier New" pitchFamily="34" charset="0"/>
                <a:ea typeface="Courier New" pitchFamily="34" charset="-122"/>
                <a:cs typeface="Courier New" pitchFamily="34" charset="-120"/>
              </a:rPr>
              <a:t>→   labelled CLEAN</a:t>
            </a:r>
            <a:endParaRPr lang="en-US" sz="1150" dirty="0"/>
          </a:p>
        </p:txBody>
      </p:sp>
      <p:sp>
        <p:nvSpPr>
          <p:cNvPr id="13" name="Text 11"/>
          <p:cNvSpPr/>
          <p:nvPr/>
        </p:nvSpPr>
        <p:spPr>
          <a:xfrm>
            <a:off x="1051560" y="3831336"/>
            <a:ext cx="1097280" cy="292608"/>
          </a:xfrm>
          <a:prstGeom prst="rect">
            <a:avLst/>
          </a:prstGeom>
          <a:noFill/>
          <a:ln/>
        </p:spPr>
        <p:txBody>
          <a:bodyPr wrap="square" lIns="0" tIns="0" rIns="0" bIns="0" rtlCol="0" anchor="ctr"/>
          <a:lstStyle/>
          <a:p>
            <a:pPr indent="0" marL="0">
              <a:buNone/>
            </a:pPr>
            <a:r>
              <a:rPr lang="en-US" sz="1150" dirty="0">
                <a:solidFill>
                  <a:srgbClr val="F2EEE7"/>
                </a:solidFill>
                <a:latin typeface="Courier New" pitchFamily="34" charset="0"/>
                <a:ea typeface="Courier New" pitchFamily="34" charset="-122"/>
                <a:cs typeface="Courier New" pitchFamily="34" charset="-120"/>
              </a:rPr>
              <a:t>v5.1.3</a:t>
            </a:r>
            <a:endParaRPr lang="en-US" sz="1150" dirty="0"/>
          </a:p>
        </p:txBody>
      </p:sp>
      <p:sp>
        <p:nvSpPr>
          <p:cNvPr id="14" name="Text 12"/>
          <p:cNvSpPr/>
          <p:nvPr/>
        </p:nvSpPr>
        <p:spPr>
          <a:xfrm>
            <a:off x="2240280" y="3831336"/>
            <a:ext cx="3291840" cy="292608"/>
          </a:xfrm>
          <a:prstGeom prst="rect">
            <a:avLst/>
          </a:prstGeom>
          <a:noFill/>
          <a:ln/>
        </p:spPr>
        <p:txBody>
          <a:bodyPr wrap="square" lIns="0" tIns="0" rIns="0" bIns="0" rtlCol="0" anchor="ctr"/>
          <a:lstStyle/>
          <a:p>
            <a:pPr indent="0" marL="0">
              <a:buNone/>
            </a:pPr>
            <a:r>
              <a:rPr lang="en-US" sz="1150" dirty="0">
                <a:solidFill>
                  <a:srgbClr val="7E766A"/>
                </a:solidFill>
                <a:latin typeface="Courier New" pitchFamily="34" charset="0"/>
                <a:ea typeface="Courier New" pitchFamily="34" charset="-122"/>
                <a:cs typeface="Courier New" pitchFamily="34" charset="-120"/>
              </a:rPr>
              <a:t>outside the affected range</a:t>
            </a:r>
            <a:endParaRPr lang="en-US" sz="1150" dirty="0"/>
          </a:p>
        </p:txBody>
      </p:sp>
      <p:sp>
        <p:nvSpPr>
          <p:cNvPr id="15" name="Text 13"/>
          <p:cNvSpPr/>
          <p:nvPr/>
        </p:nvSpPr>
        <p:spPr>
          <a:xfrm>
            <a:off x="5760720" y="3831336"/>
            <a:ext cx="4114800" cy="292608"/>
          </a:xfrm>
          <a:prstGeom prst="rect">
            <a:avLst/>
          </a:prstGeom>
          <a:noFill/>
          <a:ln/>
        </p:spPr>
        <p:txBody>
          <a:bodyPr wrap="square" lIns="0" tIns="0" rIns="0" bIns="0" rtlCol="0" anchor="ctr"/>
          <a:lstStyle/>
          <a:p>
            <a:pPr indent="0" marL="0">
              <a:buNone/>
            </a:pPr>
            <a:r>
              <a:rPr lang="en-US" sz="1150" dirty="0">
                <a:solidFill>
                  <a:srgbClr val="FF5D5D"/>
                </a:solidFill>
                <a:latin typeface="Courier New" pitchFamily="34" charset="0"/>
                <a:ea typeface="Courier New" pitchFamily="34" charset="-122"/>
                <a:cs typeface="Courier New" pitchFamily="34" charset="-120"/>
              </a:rPr>
              <a:t>→   labelled VULNERABLE</a:t>
            </a:r>
            <a:endParaRPr lang="en-US" sz="1150" dirty="0"/>
          </a:p>
        </p:txBody>
      </p:sp>
      <p:sp>
        <p:nvSpPr>
          <p:cNvPr id="16" name="Text 14"/>
          <p:cNvSpPr/>
          <p:nvPr/>
        </p:nvSpPr>
        <p:spPr>
          <a:xfrm>
            <a:off x="1051560" y="4215384"/>
            <a:ext cx="1097280" cy="292608"/>
          </a:xfrm>
          <a:prstGeom prst="rect">
            <a:avLst/>
          </a:prstGeom>
          <a:noFill/>
          <a:ln/>
        </p:spPr>
        <p:txBody>
          <a:bodyPr wrap="square" lIns="0" tIns="0" rIns="0" bIns="0" rtlCol="0" anchor="ctr"/>
          <a:lstStyle/>
          <a:p>
            <a:pPr indent="0" marL="0">
              <a:buNone/>
            </a:pPr>
            <a:r>
              <a:rPr lang="en-US" sz="1150" dirty="0">
                <a:solidFill>
                  <a:srgbClr val="F2EEE7"/>
                </a:solidFill>
                <a:latin typeface="Courier New" pitchFamily="34" charset="0"/>
                <a:ea typeface="Courier New" pitchFamily="34" charset="-122"/>
                <a:cs typeface="Courier New" pitchFamily="34" charset="-120"/>
              </a:rPr>
              <a:t>v5.11.1</a:t>
            </a:r>
            <a:endParaRPr lang="en-US" sz="1150" dirty="0"/>
          </a:p>
        </p:txBody>
      </p:sp>
      <p:sp>
        <p:nvSpPr>
          <p:cNvPr id="17" name="Text 15"/>
          <p:cNvSpPr/>
          <p:nvPr/>
        </p:nvSpPr>
        <p:spPr>
          <a:xfrm>
            <a:off x="2240280" y="4215384"/>
            <a:ext cx="3291840" cy="292608"/>
          </a:xfrm>
          <a:prstGeom prst="rect">
            <a:avLst/>
          </a:prstGeom>
          <a:noFill/>
          <a:ln/>
        </p:spPr>
        <p:txBody>
          <a:bodyPr wrap="square" lIns="0" tIns="0" rIns="0" bIns="0" rtlCol="0" anchor="ctr"/>
          <a:lstStyle/>
          <a:p>
            <a:pPr indent="0" marL="0">
              <a:buNone/>
            </a:pPr>
            <a:r>
              <a:rPr lang="en-US" sz="1150" dirty="0">
                <a:solidFill>
                  <a:srgbClr val="7E766A"/>
                </a:solidFill>
                <a:latin typeface="Courier New" pitchFamily="34" charset="0"/>
                <a:ea typeface="Courier New" pitchFamily="34" charset="-122"/>
                <a:cs typeface="Courier New" pitchFamily="34" charset="-120"/>
              </a:rPr>
              <a:t>outside the affected range</a:t>
            </a:r>
            <a:endParaRPr lang="en-US" sz="1150" dirty="0"/>
          </a:p>
        </p:txBody>
      </p:sp>
      <p:sp>
        <p:nvSpPr>
          <p:cNvPr id="18" name="Text 16"/>
          <p:cNvSpPr/>
          <p:nvPr/>
        </p:nvSpPr>
        <p:spPr>
          <a:xfrm>
            <a:off x="5760720" y="4215384"/>
            <a:ext cx="4114800" cy="292608"/>
          </a:xfrm>
          <a:prstGeom prst="rect">
            <a:avLst/>
          </a:prstGeom>
          <a:noFill/>
          <a:ln/>
        </p:spPr>
        <p:txBody>
          <a:bodyPr wrap="square" lIns="0" tIns="0" rIns="0" bIns="0" rtlCol="0" anchor="ctr"/>
          <a:lstStyle/>
          <a:p>
            <a:pPr indent="0" marL="0">
              <a:buNone/>
            </a:pPr>
            <a:r>
              <a:rPr lang="en-US" sz="1150" dirty="0">
                <a:solidFill>
                  <a:srgbClr val="FF5D5D"/>
                </a:solidFill>
                <a:latin typeface="Courier New" pitchFamily="34" charset="0"/>
                <a:ea typeface="Courier New" pitchFamily="34" charset="-122"/>
                <a:cs typeface="Courier New" pitchFamily="34" charset="-120"/>
              </a:rPr>
              <a:t>→   labelled VULNERABLE</a:t>
            </a:r>
            <a:endParaRPr lang="en-US" sz="1150" dirty="0"/>
          </a:p>
        </p:txBody>
      </p:sp>
      <p:sp>
        <p:nvSpPr>
          <p:cNvPr id="19" name="Text 17"/>
          <p:cNvSpPr/>
          <p:nvPr/>
        </p:nvSpPr>
        <p:spPr>
          <a:xfrm>
            <a:off x="1051560" y="4617720"/>
            <a:ext cx="10241280" cy="274320"/>
          </a:xfrm>
          <a:prstGeom prst="rect">
            <a:avLst/>
          </a:prstGeom>
          <a:noFill/>
          <a:ln/>
        </p:spPr>
        <p:txBody>
          <a:bodyPr wrap="square" lIns="0" tIns="0" rIns="0" bIns="0" rtlCol="0" anchor="ctr"/>
          <a:lstStyle/>
          <a:p>
            <a:pPr indent="0" marL="0">
              <a:buNone/>
            </a:pPr>
            <a:r>
              <a:rPr lang="en-US" sz="1300" b="1" dirty="0">
                <a:solidFill>
                  <a:srgbClr val="FF7A3D"/>
                </a:solidFill>
                <a:latin typeface="Calibri" pitchFamily="34" charset="0"/>
                <a:ea typeface="Calibri" pitchFamily="34" charset="-122"/>
                <a:cs typeface="Calibri" pitchFamily="34" charset="-120"/>
              </a:rPr>
              <a:t>Every version INSIDE the range is clean. Every version OUTSIDE it is vulnerable.</a:t>
            </a:r>
            <a:endParaRPr lang="en-US" sz="1300" dirty="0"/>
          </a:p>
        </p:txBody>
      </p:sp>
      <p:sp>
        <p:nvSpPr>
          <p:cNvPr id="20" name="Text 18"/>
          <p:cNvSpPr/>
          <p:nvPr/>
        </p:nvSpPr>
        <p:spPr>
          <a:xfrm>
            <a:off x="548640" y="5166360"/>
            <a:ext cx="11064240" cy="822960"/>
          </a:xfrm>
          <a:prstGeom prst="rect">
            <a:avLst/>
          </a:prstGeom>
          <a:noFill/>
          <a:ln/>
        </p:spPr>
        <p:txBody>
          <a:bodyPr wrap="square" lIns="0" tIns="0" rIns="0" bIns="0" rtlCol="0" anchor="ctr"/>
          <a:lstStyle/>
          <a:p>
            <a:pPr indent="0" marL="0">
              <a:lnSpc>
                <a:spcPts val="1800"/>
              </a:lnSpc>
              <a:buNone/>
            </a:pPr>
            <a:r>
              <a:rPr lang="en-US" sz="1250" dirty="0">
                <a:solidFill>
                  <a:srgbClr val="A89F92"/>
                </a:solidFill>
                <a:latin typeface="Calibri" pitchFamily="34" charset="0"/>
                <a:ea typeface="Calibri" pitchFamily="34" charset="-122"/>
                <a:cs typeface="Calibri" pitchFamily="34" charset="-120"/>
              </a:rPr>
              <a:t>The version predicate is not approximately wrong — it is running exactly BACKWARDS. No monotone predicate on</a:t>
            </a:r>
            <a:endParaRPr lang="en-US" sz="1250" dirty="0"/>
          </a:p>
          <a:p>
            <a:pPr indent="0" marL="0">
              <a:lnSpc>
                <a:spcPts val="1800"/>
              </a:lnSpc>
              <a:buNone/>
            </a:pPr>
            <a:r>
              <a:rPr lang="en-US" sz="1250" dirty="0">
                <a:solidFill>
                  <a:srgbClr val="A89F92"/>
                </a:solidFill>
                <a:latin typeface="Calibri" pitchFamily="34" charset="0"/>
                <a:ea typeface="Calibri" pitchFamily="34" charset="-122"/>
                <a:cs typeface="Calibri" pitchFamily="34" charset="-120"/>
              </a:rPr>
              <a:t>versions can be false inside an interval and true outside it. So the labels are not a function of the version at all:</a:t>
            </a:r>
            <a:endParaRPr lang="en-US" sz="1250" dirty="0"/>
          </a:p>
          <a:p>
            <a:pPr indent="0" marL="0">
              <a:lnSpc>
                <a:spcPts val="1800"/>
              </a:lnSpc>
              <a:buNone/>
            </a:pPr>
            <a:r>
              <a:rPr lang="en-US" sz="1250" dirty="0">
                <a:solidFill>
                  <a:srgbClr val="A89F92"/>
                </a:solidFill>
                <a:latin typeface="Calibri" pitchFamily="34" charset="0"/>
                <a:ea typeface="Calibri" pitchFamily="34" charset="-122"/>
                <a:cs typeface="Calibri" pitchFamily="34" charset="-120"/>
              </a:rPr>
              <a:t>they were generated from the library NAME. Fifteen libraries show the same pattern.</a:t>
            </a:r>
            <a:endParaRPr lang="en-US" sz="1250" dirty="0"/>
          </a:p>
        </p:txBody>
      </p:sp>
      <p:sp>
        <p:nvSpPr>
          <p:cNvPr id="21" name="Text 19"/>
          <p:cNvSpPr/>
          <p:nvPr/>
        </p:nvSpPr>
        <p:spPr>
          <a:xfrm>
            <a:off x="548640" y="6035040"/>
            <a:ext cx="11064240" cy="320040"/>
          </a:xfrm>
          <a:prstGeom prst="rect">
            <a:avLst/>
          </a:prstGeom>
          <a:noFill/>
          <a:ln/>
        </p:spPr>
        <p:txBody>
          <a:bodyPr wrap="square" lIns="0" tIns="0" rIns="0" bIns="0" rtlCol="0" anchor="ctr"/>
          <a:lstStyle/>
          <a:p>
            <a:pPr indent="0" marL="0">
              <a:buNone/>
            </a:pPr>
            <a:r>
              <a:rPr lang="en-US" sz="1300" b="1" i="1" dirty="0">
                <a:solidFill>
                  <a:srgbClr val="F2EEE7"/>
                </a:solidFill>
                <a:latin typeface="Calibri" pitchFamily="34" charset="0"/>
                <a:ea typeface="Calibri" pitchFamily="34" charset="-122"/>
                <a:cs typeface="Calibri" pitchFamily="34" charset="-120"/>
              </a:rPr>
              <a:t>SBOMGuard detects this on load, adapts, and puts it on the front page — rather than silently scoring 26%.</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THE CONSEQUENCE</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Two of the five criteria are mutually unsatisfiable.</a:t>
            </a:r>
            <a:endParaRPr lang="en-US" sz="3400" dirty="0"/>
          </a:p>
        </p:txBody>
      </p:sp>
      <p:sp>
        <p:nvSpPr>
          <p:cNvPr id="4" name="Text 2"/>
          <p:cNvSpPr/>
          <p:nvPr/>
        </p:nvSpPr>
        <p:spPr>
          <a:xfrm>
            <a:off x="548640" y="1645920"/>
            <a:ext cx="11064240" cy="640080"/>
          </a:xfrm>
          <a:prstGeom prst="rect">
            <a:avLst/>
          </a:prstGeom>
          <a:noFill/>
          <a:ln/>
        </p:spPr>
        <p:txBody>
          <a:bodyPr wrap="square" lIns="0" tIns="0" rIns="0" bIns="0" rtlCol="0" anchor="ctr"/>
          <a:lstStyle/>
          <a:p>
            <a:pPr indent="0" marL="0">
              <a:lnSpc>
                <a:spcPts val="1900"/>
              </a:lnSpc>
              <a:buNone/>
            </a:pPr>
            <a:r>
              <a:rPr lang="en-US" sz="1300" dirty="0">
                <a:solidFill>
                  <a:srgbClr val="A89F92"/>
                </a:solidFill>
                <a:latin typeface="Calibri" pitchFamily="34" charset="0"/>
                <a:ea typeface="Calibri" pitchFamily="34" charset="-122"/>
                <a:cs typeface="Calibri" pitchFamily="34" charset="-120"/>
              </a:rPr>
              <a:t>301 dependencies carry a CVE-bearing library. 176 are labelled risky, 125 clean — and NOTHING in the inputs</a:t>
            </a:r>
            <a:endParaRPr lang="en-US" sz="1300" dirty="0"/>
          </a:p>
          <a:p>
            <a:pPr indent="0" marL="0">
              <a:lnSpc>
                <a:spcPts val="1900"/>
              </a:lnSpc>
              <a:buNone/>
            </a:pPr>
            <a:r>
              <a:rPr lang="en-US" sz="1300" dirty="0">
                <a:solidFill>
                  <a:srgbClr val="A89F92"/>
                </a:solidFill>
                <a:latin typeface="Calibri" pitchFamily="34" charset="0"/>
                <a:ea typeface="Calibri" pitchFamily="34" charset="-122"/>
                <a:cs typeface="Calibri" pitchFamily="34" charset="-120"/>
              </a:rPr>
              <a:t>separates them. So flagging a fraction f gives recall = f and false-positive rate = f × 0.39. They are welded.</a:t>
            </a:r>
            <a:endParaRPr lang="en-US" sz="1300" dirty="0"/>
          </a:p>
        </p:txBody>
      </p:sp>
      <p:graphicFrame>
        <p:nvGraphicFramePr>
          <p:cNvPr id="5" name="Chart 0" descr=""/>
          <p:cNvGraphicFramePr/>
          <p:nvPr/>
        </p:nvGraphicFramePr>
        <p:xfrm>
          <a:off x="548640" y="246888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2697480"/>
            <a:ext cx="4023360" cy="868680"/>
          </a:xfrm>
          <a:prstGeom prst="roundRect">
            <a:avLst>
              <a:gd name="adj" fmla="val 8421"/>
            </a:avLst>
          </a:prstGeom>
          <a:solidFill>
            <a:srgbClr val="1C1917"/>
          </a:solidFill>
          <a:ln/>
        </p:spPr>
      </p:sp>
      <p:sp>
        <p:nvSpPr>
          <p:cNvPr id="7" name="Text 4"/>
          <p:cNvSpPr/>
          <p:nvPr/>
        </p:nvSpPr>
        <p:spPr>
          <a:xfrm>
            <a:off x="7863840" y="2816352"/>
            <a:ext cx="3566160" cy="274320"/>
          </a:xfrm>
          <a:prstGeom prst="rect">
            <a:avLst/>
          </a:prstGeom>
          <a:noFill/>
          <a:ln/>
        </p:spPr>
        <p:txBody>
          <a:bodyPr wrap="square" lIns="0" tIns="0" rIns="0" bIns="0" rtlCol="0" anchor="ctr"/>
          <a:lstStyle/>
          <a:p>
            <a:pPr indent="0" marL="0">
              <a:buNone/>
            </a:pPr>
            <a:r>
              <a:rPr lang="en-US" sz="1200" b="1" dirty="0">
                <a:solidFill>
                  <a:srgbClr val="F2EEE7"/>
                </a:solidFill>
                <a:latin typeface="Calibri" pitchFamily="34" charset="0"/>
                <a:ea typeface="Calibri" pitchFamily="34" charset="-122"/>
                <a:cs typeface="Calibri" pitchFamily="34" charset="-120"/>
              </a:rPr>
              <a:t>Target: recall &gt; 85%</a:t>
            </a:r>
            <a:endParaRPr lang="en-US" sz="1200" dirty="0"/>
          </a:p>
        </p:txBody>
      </p:sp>
      <p:sp>
        <p:nvSpPr>
          <p:cNvPr id="8" name="Text 5"/>
          <p:cNvSpPr/>
          <p:nvPr/>
        </p:nvSpPr>
        <p:spPr>
          <a:xfrm>
            <a:off x="7863840" y="3108960"/>
            <a:ext cx="3566160" cy="292608"/>
          </a:xfrm>
          <a:prstGeom prst="rect">
            <a:avLst/>
          </a:prstGeom>
          <a:noFill/>
          <a:ln/>
        </p:spPr>
        <p:txBody>
          <a:bodyPr wrap="square" lIns="0" tIns="0" rIns="0" bIns="0" rtlCol="0" anchor="ctr"/>
          <a:lstStyle/>
          <a:p>
            <a:pPr indent="0" marL="0">
              <a:buNone/>
            </a:pPr>
            <a:r>
              <a:rPr lang="en-US" sz="1150" dirty="0">
                <a:solidFill>
                  <a:srgbClr val="FF5D5D"/>
                </a:solidFill>
                <a:latin typeface="Courier New" pitchFamily="34" charset="0"/>
                <a:ea typeface="Courier New" pitchFamily="34" charset="-122"/>
                <a:cs typeface="Courier New" pitchFamily="34" charset="-120"/>
              </a:rPr>
              <a:t>forces  33.2%  false positives</a:t>
            </a:r>
            <a:endParaRPr lang="en-US" sz="1150" dirty="0"/>
          </a:p>
        </p:txBody>
      </p:sp>
      <p:sp>
        <p:nvSpPr>
          <p:cNvPr id="9" name="Shape 6"/>
          <p:cNvSpPr/>
          <p:nvPr/>
        </p:nvSpPr>
        <p:spPr>
          <a:xfrm>
            <a:off x="7589520" y="3749040"/>
            <a:ext cx="4023360" cy="868680"/>
          </a:xfrm>
          <a:prstGeom prst="roundRect">
            <a:avLst>
              <a:gd name="adj" fmla="val 8421"/>
            </a:avLst>
          </a:prstGeom>
          <a:solidFill>
            <a:srgbClr val="1C1917"/>
          </a:solidFill>
          <a:ln/>
        </p:spPr>
      </p:sp>
      <p:sp>
        <p:nvSpPr>
          <p:cNvPr id="10" name="Text 7"/>
          <p:cNvSpPr/>
          <p:nvPr/>
        </p:nvSpPr>
        <p:spPr>
          <a:xfrm>
            <a:off x="7863840" y="3867912"/>
            <a:ext cx="3566160" cy="274320"/>
          </a:xfrm>
          <a:prstGeom prst="rect">
            <a:avLst/>
          </a:prstGeom>
          <a:noFill/>
          <a:ln/>
        </p:spPr>
        <p:txBody>
          <a:bodyPr wrap="square" lIns="0" tIns="0" rIns="0" bIns="0" rtlCol="0" anchor="ctr"/>
          <a:lstStyle/>
          <a:p>
            <a:pPr indent="0" marL="0">
              <a:buNone/>
            </a:pPr>
            <a:r>
              <a:rPr lang="en-US" sz="1200" b="1" dirty="0">
                <a:solidFill>
                  <a:srgbClr val="F2EEE7"/>
                </a:solidFill>
                <a:latin typeface="Calibri" pitchFamily="34" charset="0"/>
                <a:ea typeface="Calibri" pitchFamily="34" charset="-122"/>
                <a:cs typeface="Calibri" pitchFamily="34" charset="-120"/>
              </a:rPr>
              <a:t>Target: false positives &lt; 20%</a:t>
            </a:r>
            <a:endParaRPr lang="en-US" sz="1200" dirty="0"/>
          </a:p>
        </p:txBody>
      </p:sp>
      <p:sp>
        <p:nvSpPr>
          <p:cNvPr id="11" name="Text 8"/>
          <p:cNvSpPr/>
          <p:nvPr/>
        </p:nvSpPr>
        <p:spPr>
          <a:xfrm>
            <a:off x="7863840" y="4160520"/>
            <a:ext cx="3566160" cy="292608"/>
          </a:xfrm>
          <a:prstGeom prst="rect">
            <a:avLst/>
          </a:prstGeom>
          <a:noFill/>
          <a:ln/>
        </p:spPr>
        <p:txBody>
          <a:bodyPr wrap="square" lIns="0" tIns="0" rIns="0" bIns="0" rtlCol="0" anchor="ctr"/>
          <a:lstStyle/>
          <a:p>
            <a:pPr indent="0" marL="0">
              <a:buNone/>
            </a:pPr>
            <a:r>
              <a:rPr lang="en-US" sz="1150" dirty="0">
                <a:solidFill>
                  <a:srgbClr val="FF5D5D"/>
                </a:solidFill>
                <a:latin typeface="Courier New" pitchFamily="34" charset="0"/>
                <a:ea typeface="Courier New" pitchFamily="34" charset="-122"/>
                <a:cs typeface="Courier New" pitchFamily="34" charset="-120"/>
              </a:rPr>
              <a:t>caps recall at  51.2%</a:t>
            </a:r>
            <a:endParaRPr lang="en-US" sz="1150" dirty="0"/>
          </a:p>
        </p:txBody>
      </p:sp>
      <p:sp>
        <p:nvSpPr>
          <p:cNvPr id="12" name="Shape 9"/>
          <p:cNvSpPr/>
          <p:nvPr/>
        </p:nvSpPr>
        <p:spPr>
          <a:xfrm>
            <a:off x="7589520" y="4892040"/>
            <a:ext cx="4023360" cy="1143000"/>
          </a:xfrm>
          <a:prstGeom prst="roundRect">
            <a:avLst>
              <a:gd name="adj" fmla="val 6400"/>
            </a:avLst>
          </a:prstGeom>
          <a:solidFill>
            <a:srgbClr val="272220"/>
          </a:solidFill>
          <a:ln/>
        </p:spPr>
      </p:sp>
      <p:sp>
        <p:nvSpPr>
          <p:cNvPr id="13" name="Text 10"/>
          <p:cNvSpPr/>
          <p:nvPr/>
        </p:nvSpPr>
        <p:spPr>
          <a:xfrm>
            <a:off x="7863840" y="5029200"/>
            <a:ext cx="3566160" cy="548640"/>
          </a:xfrm>
          <a:prstGeom prst="rect">
            <a:avLst/>
          </a:prstGeom>
          <a:noFill/>
          <a:ln/>
        </p:spPr>
        <p:txBody>
          <a:bodyPr wrap="square" lIns="0" tIns="0" rIns="0" bIns="0" rtlCol="0" anchor="ctr"/>
          <a:lstStyle/>
          <a:p>
            <a:pPr indent="0" marL="0">
              <a:lnSpc>
                <a:spcPts val="2100"/>
              </a:lnSpc>
              <a:buNone/>
            </a:pPr>
            <a:r>
              <a:rPr lang="en-US" sz="1500" b="1" dirty="0">
                <a:solidFill>
                  <a:srgbClr val="FF7A3D"/>
                </a:solidFill>
                <a:latin typeface="Cambria" pitchFamily="34" charset="0"/>
                <a:ea typeface="Cambria" pitchFamily="34" charset="-122"/>
                <a:cs typeface="Cambria" pitchFamily="34" charset="-120"/>
              </a:rPr>
              <a:t>You may have one.</a:t>
            </a:r>
            <a:endParaRPr lang="en-US" sz="1500" dirty="0"/>
          </a:p>
          <a:p>
            <a:pPr indent="0" marL="0">
              <a:lnSpc>
                <a:spcPts val="2100"/>
              </a:lnSpc>
              <a:buNone/>
            </a:pPr>
            <a:r>
              <a:rPr lang="en-US" sz="1500" b="1" dirty="0">
                <a:solidFill>
                  <a:srgbClr val="FF7A3D"/>
                </a:solidFill>
                <a:latin typeface="Cambria" pitchFamily="34" charset="0"/>
                <a:ea typeface="Cambria" pitchFamily="34" charset="-122"/>
                <a:cs typeface="Cambria" pitchFamily="34" charset="-120"/>
              </a:rPr>
              <a:t>You may not have both.</a:t>
            </a:r>
            <a:endParaRPr lang="en-US" sz="1500" dirty="0"/>
          </a:p>
        </p:txBody>
      </p:sp>
      <p:sp>
        <p:nvSpPr>
          <p:cNvPr id="14" name="Text 11"/>
          <p:cNvSpPr/>
          <p:nvPr/>
        </p:nvSpPr>
        <p:spPr>
          <a:xfrm>
            <a:off x="7863840" y="5532120"/>
            <a:ext cx="3566160" cy="457200"/>
          </a:xfrm>
          <a:prstGeom prst="rect">
            <a:avLst/>
          </a:prstGeom>
          <a:noFill/>
          <a:ln/>
        </p:spPr>
        <p:txBody>
          <a:bodyPr wrap="square" lIns="0" tIns="0" rIns="0" bIns="0" rtlCol="0" anchor="ctr"/>
          <a:lstStyle/>
          <a:p>
            <a:pPr indent="0" marL="0">
              <a:lnSpc>
                <a:spcPts val="1400"/>
              </a:lnSpc>
              <a:buNone/>
            </a:pPr>
            <a:r>
              <a:rPr lang="en-US" sz="1050" dirty="0">
                <a:solidFill>
                  <a:srgbClr val="A89F92"/>
                </a:solidFill>
                <a:latin typeface="Calibri" pitchFamily="34" charset="0"/>
                <a:ea typeface="Calibri" pitchFamily="34" charset="-122"/>
                <a:cs typeface="Calibri" pitchFamily="34" charset="-120"/>
              </a:rPr>
              <a:t>We chose recall. A missed CVE costs</a:t>
            </a:r>
            <a:endParaRPr lang="en-US" sz="1050" dirty="0"/>
          </a:p>
          <a:p>
            <a:pPr indent="0" marL="0">
              <a:lnSpc>
                <a:spcPts val="1400"/>
              </a:lnSpc>
              <a:buNone/>
            </a:pPr>
            <a:r>
              <a:rPr lang="en-US" sz="1050" dirty="0">
                <a:solidFill>
                  <a:srgbClr val="A89F92"/>
                </a:solidFill>
                <a:latin typeface="Calibri" pitchFamily="34" charset="0"/>
                <a:ea typeface="Calibri" pitchFamily="34" charset="-122"/>
                <a:cs typeface="Calibri" pitchFamily="34" charset="-120"/>
              </a:rPr>
              <a:t>more than a second look at a clean library.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Same engine. Same code. Only the data changes.</a:t>
            </a:r>
            <a:endParaRPr lang="en-US" sz="3400" dirty="0"/>
          </a:p>
        </p:txBody>
      </p:sp>
      <p:graphicFrame>
        <p:nvGraphicFramePr>
          <p:cNvPr id="4" name="Chart 0" descr=""/>
          <p:cNvGraphicFramePr/>
          <p:nvPr/>
        </p:nvGraphicFramePr>
        <p:xfrm>
          <a:off x="548640" y="1691640"/>
          <a:ext cx="6858000" cy="3794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783080"/>
            <a:ext cx="1874520" cy="1371600"/>
          </a:xfrm>
          <a:prstGeom prst="roundRect">
            <a:avLst>
              <a:gd name="adj" fmla="val 5333"/>
            </a:avLst>
          </a:prstGeom>
          <a:solidFill>
            <a:srgbClr val="272220"/>
          </a:solidFill>
          <a:ln/>
        </p:spPr>
      </p:sp>
      <p:sp>
        <p:nvSpPr>
          <p:cNvPr id="6" name="Text 3"/>
          <p:cNvSpPr/>
          <p:nvPr/>
        </p:nvSpPr>
        <p:spPr>
          <a:xfrm>
            <a:off x="7680960" y="1920240"/>
            <a:ext cx="1874520" cy="640080"/>
          </a:xfrm>
          <a:prstGeom prst="rect">
            <a:avLst/>
          </a:prstGeom>
          <a:noFill/>
          <a:ln/>
        </p:spPr>
        <p:txBody>
          <a:bodyPr wrap="square" lIns="0" tIns="0" rIns="0" bIns="0" rtlCol="0" anchor="ctr"/>
          <a:lstStyle/>
          <a:p>
            <a:pPr algn="ctr" indent="0" marL="0">
              <a:buNone/>
            </a:pPr>
            <a:r>
              <a:rPr lang="en-US" sz="3400" b="1" dirty="0">
                <a:solidFill>
                  <a:srgbClr val="FF7A3D"/>
                </a:solidFill>
                <a:latin typeface="Cambria" pitchFamily="34" charset="0"/>
                <a:ea typeface="Cambria" pitchFamily="34" charset="-122"/>
                <a:cs typeface="Cambria" pitchFamily="34" charset="-120"/>
              </a:rPr>
              <a:t>3/5</a:t>
            </a:r>
            <a:endParaRPr lang="en-US" sz="3400" dirty="0"/>
          </a:p>
        </p:txBody>
      </p:sp>
      <p:sp>
        <p:nvSpPr>
          <p:cNvPr id="7" name="Text 4"/>
          <p:cNvSpPr/>
          <p:nvPr/>
        </p:nvSpPr>
        <p:spPr>
          <a:xfrm>
            <a:off x="7680960" y="2606040"/>
            <a:ext cx="1874520" cy="274320"/>
          </a:xfrm>
          <a:prstGeom prst="rect">
            <a:avLst/>
          </a:prstGeom>
          <a:noFill/>
          <a:ln/>
        </p:spPr>
        <p:txBody>
          <a:bodyPr wrap="square" lIns="0" tIns="0" rIns="0" bIns="0" rtlCol="0" anchor="ctr"/>
          <a:lstStyle/>
          <a:p>
            <a:pPr algn="ctr" indent="0" marL="0">
              <a:buNone/>
            </a:pPr>
            <a:r>
              <a:rPr lang="en-US" sz="900" b="1" spc="100" kern="0" dirty="0">
                <a:solidFill>
                  <a:srgbClr val="7E766A"/>
                </a:solidFill>
                <a:latin typeface="Calibri" pitchFamily="34" charset="0"/>
                <a:ea typeface="Calibri" pitchFamily="34" charset="-122"/>
                <a:cs typeface="Calibri" pitchFamily="34" charset="-120"/>
              </a:rPr>
              <a:t>OFFICIAL DATA</a:t>
            </a:r>
            <a:endParaRPr lang="en-US" sz="900" dirty="0"/>
          </a:p>
        </p:txBody>
      </p:sp>
      <p:sp>
        <p:nvSpPr>
          <p:cNvPr id="8" name="Shape 5"/>
          <p:cNvSpPr/>
          <p:nvPr/>
        </p:nvSpPr>
        <p:spPr>
          <a:xfrm>
            <a:off x="9738360" y="1783080"/>
            <a:ext cx="1874520" cy="1371600"/>
          </a:xfrm>
          <a:prstGeom prst="roundRect">
            <a:avLst>
              <a:gd name="adj" fmla="val 5333"/>
            </a:avLst>
          </a:prstGeom>
          <a:solidFill>
            <a:srgbClr val="272220"/>
          </a:solidFill>
          <a:ln/>
        </p:spPr>
      </p:sp>
      <p:sp>
        <p:nvSpPr>
          <p:cNvPr id="9" name="Text 6"/>
          <p:cNvSpPr/>
          <p:nvPr/>
        </p:nvSpPr>
        <p:spPr>
          <a:xfrm>
            <a:off x="9738360" y="1920240"/>
            <a:ext cx="1874520" cy="640080"/>
          </a:xfrm>
          <a:prstGeom prst="rect">
            <a:avLst/>
          </a:prstGeom>
          <a:noFill/>
          <a:ln/>
        </p:spPr>
        <p:txBody>
          <a:bodyPr wrap="square" lIns="0" tIns="0" rIns="0" bIns="0" rtlCol="0" anchor="ctr"/>
          <a:lstStyle/>
          <a:p>
            <a:pPr algn="ctr" indent="0" marL="0">
              <a:buNone/>
            </a:pPr>
            <a:r>
              <a:rPr lang="en-US" sz="3400" b="1" dirty="0">
                <a:solidFill>
                  <a:srgbClr val="5FCF9A"/>
                </a:solidFill>
                <a:latin typeface="Cambria" pitchFamily="34" charset="0"/>
                <a:ea typeface="Cambria" pitchFamily="34" charset="-122"/>
                <a:cs typeface="Cambria" pitchFamily="34" charset="-120"/>
              </a:rPr>
              <a:t>5/5</a:t>
            </a:r>
            <a:endParaRPr lang="en-US" sz="3400" dirty="0"/>
          </a:p>
        </p:txBody>
      </p:sp>
      <p:sp>
        <p:nvSpPr>
          <p:cNvPr id="10" name="Text 7"/>
          <p:cNvSpPr/>
          <p:nvPr/>
        </p:nvSpPr>
        <p:spPr>
          <a:xfrm>
            <a:off x="9738360" y="2606040"/>
            <a:ext cx="1874520" cy="274320"/>
          </a:xfrm>
          <a:prstGeom prst="rect">
            <a:avLst/>
          </a:prstGeom>
          <a:noFill/>
          <a:ln/>
        </p:spPr>
        <p:txBody>
          <a:bodyPr wrap="square" lIns="0" tIns="0" rIns="0" bIns="0" rtlCol="0" anchor="ctr"/>
          <a:lstStyle/>
          <a:p>
            <a:pPr algn="ctr" indent="0" marL="0">
              <a:buNone/>
            </a:pPr>
            <a:r>
              <a:rPr lang="en-US" sz="850" b="1" spc="100" kern="0" dirty="0">
                <a:solidFill>
                  <a:srgbClr val="7E766A"/>
                </a:solidFill>
                <a:latin typeface="Calibri" pitchFamily="34" charset="0"/>
                <a:ea typeface="Calibri" pitchFamily="34" charset="-122"/>
                <a:cs typeface="Calibri" pitchFamily="34" charset="-120"/>
              </a:rPr>
              <a:t>CONSISTENT DATA</a:t>
            </a:r>
            <a:endParaRPr lang="en-US" sz="850" dirty="0"/>
          </a:p>
        </p:txBody>
      </p:sp>
      <p:sp>
        <p:nvSpPr>
          <p:cNvPr id="11" name="Text 8"/>
          <p:cNvSpPr/>
          <p:nvPr/>
        </p:nvSpPr>
        <p:spPr>
          <a:xfrm>
            <a:off x="7680960" y="3429000"/>
            <a:ext cx="3931920" cy="868680"/>
          </a:xfrm>
          <a:prstGeom prst="rect">
            <a:avLst/>
          </a:prstGeom>
          <a:noFill/>
          <a:ln/>
        </p:spPr>
        <p:txBody>
          <a:bodyPr wrap="square" lIns="0" tIns="0" rIns="0" bIns="0" rtlCol="0" anchor="ctr"/>
          <a:lstStyle/>
          <a:p>
            <a:pPr indent="0" marL="0">
              <a:lnSpc>
                <a:spcPts val="2100"/>
              </a:lnSpc>
              <a:buNone/>
            </a:pPr>
            <a:r>
              <a:rPr lang="en-US" sz="1500" b="1" dirty="0">
                <a:solidFill>
                  <a:srgbClr val="F2EEE7"/>
                </a:solidFill>
                <a:latin typeface="Cambria" pitchFamily="34" charset="0"/>
                <a:ea typeface="Cambria" pitchFamily="34" charset="-122"/>
                <a:cs typeface="Cambria" pitchFamily="34" charset="-120"/>
              </a:rPr>
              <a:t>The gap is not the engine.</a:t>
            </a:r>
            <a:endParaRPr lang="en-US" sz="1500" dirty="0"/>
          </a:p>
          <a:p>
            <a:pPr indent="0" marL="0">
              <a:lnSpc>
                <a:spcPts val="2100"/>
              </a:lnSpc>
              <a:buNone/>
            </a:pPr>
            <a:r>
              <a:rPr lang="en-US" sz="1500" b="1" dirty="0">
                <a:solidFill>
                  <a:srgbClr val="F2EEE7"/>
                </a:solidFill>
                <a:latin typeface="Cambria" pitchFamily="34" charset="0"/>
                <a:ea typeface="Cambria" pitchFamily="34" charset="-122"/>
                <a:cs typeface="Cambria" pitchFamily="34" charset="-120"/>
              </a:rPr>
              <a:t>It is the dataset — and we are</a:t>
            </a:r>
            <a:endParaRPr lang="en-US" sz="1500" dirty="0"/>
          </a:p>
          <a:p>
            <a:pPr indent="0" marL="0">
              <a:lnSpc>
                <a:spcPts val="2100"/>
              </a:lnSpc>
              <a:buNone/>
            </a:pPr>
            <a:r>
              <a:rPr lang="en-US" sz="1500" b="1" dirty="0">
                <a:solidFill>
                  <a:srgbClr val="F2EEE7"/>
                </a:solidFill>
                <a:latin typeface="Cambria" pitchFamily="34" charset="0"/>
                <a:ea typeface="Cambria" pitchFamily="34" charset="-122"/>
                <a:cs typeface="Cambria" pitchFamily="34" charset="-120"/>
              </a:rPr>
              <a:t>the only ones who checked.</a:t>
            </a:r>
            <a:endParaRPr lang="en-US" sz="1500" dirty="0"/>
          </a:p>
        </p:txBody>
      </p:sp>
      <p:sp>
        <p:nvSpPr>
          <p:cNvPr id="12" name="Text 9"/>
          <p:cNvSpPr/>
          <p:nvPr/>
        </p:nvSpPr>
        <p:spPr>
          <a:xfrm>
            <a:off x="7680960" y="4434840"/>
            <a:ext cx="3931920" cy="1737360"/>
          </a:xfrm>
          <a:prstGeom prst="rect">
            <a:avLst/>
          </a:prstGeom>
          <a:noFill/>
          <a:ln/>
        </p:spPr>
        <p:txBody>
          <a:bodyPr wrap="square" lIns="0" tIns="0" rIns="0" bIns="0" rtlCol="0" anchor="ctr"/>
          <a:lstStyle/>
          <a:p>
            <a:pPr indent="0" marL="0">
              <a:lnSpc>
                <a:spcPts val="1400"/>
              </a:lnSpc>
              <a:buNone/>
            </a:pPr>
            <a:r>
              <a:rPr lang="en-US" sz="1050" dirty="0">
                <a:solidFill>
                  <a:srgbClr val="A89F92"/>
                </a:solidFill>
                <a:latin typeface="Calibri" pitchFamily="34" charset="0"/>
                <a:ea typeface="Calibri" pitchFamily="34" charset="-122"/>
                <a:cs typeface="Calibri" pitchFamily="34" charset="-120"/>
              </a:rPr>
              <a:t>On risk accuracy: severity in these labels is a coin-toss — each dependency is scored against a CVE drawn AT RANDOM from its library's set. An oracle allowed to pick any score per library, WITH FULL KNOWLEDGE of the answers, still bottoms out at ±5.0%.</a:t>
            </a:r>
            <a:endParaRPr lang="en-US" sz="1050" dirty="0"/>
          </a:p>
          <a:p>
            <a:pPr indent="0" marL="0">
              <a:lnSpc>
                <a:spcPts val="1400"/>
              </a:lnSpc>
              <a:buNone/>
            </a:pPr>
            <a:endParaRPr lang="en-US" sz="1050" dirty="0"/>
          </a:p>
          <a:p>
            <a:pPr indent="0" marL="0">
              <a:lnSpc>
                <a:spcPts val="1400"/>
              </a:lnSpc>
              <a:buNone/>
            </a:pPr>
            <a:r>
              <a:rPr lang="en-US" sz="1050" dirty="0">
                <a:solidFill>
                  <a:srgbClr val="A89F92"/>
                </a:solidFill>
                <a:latin typeface="Calibri" pitchFamily="34" charset="0"/>
                <a:ea typeface="Calibri" pitchFamily="34" charset="-122"/>
                <a:cs typeface="Calibri" pitchFamily="34" charset="-120"/>
              </a:rPr>
              <a:t>Half our remaining error is irreducible.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00F"/>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ctr"/>
          <a:lstStyle/>
          <a:p>
            <a:pPr indent="0" marL="0">
              <a:buNone/>
            </a:pPr>
            <a:r>
              <a:rPr lang="en-US" sz="1100" b="1" spc="200" kern="0" dirty="0">
                <a:solidFill>
                  <a:srgbClr val="FF7A3D"/>
                </a:solidFill>
                <a:latin typeface="Calibri" pitchFamily="34" charset="0"/>
                <a:ea typeface="Calibri" pitchFamily="34" charset="-122"/>
                <a:cs typeface="Calibri" pitchFamily="34" charset="-120"/>
              </a:rPr>
              <a:t>THE LINE WE WOULD NOT CROSS</a:t>
            </a:r>
            <a:endParaRPr lang="en-US" sz="11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400" b="1" dirty="0">
                <a:solidFill>
                  <a:srgbClr val="F2EEE7"/>
                </a:solidFill>
                <a:latin typeface="Cambria" pitchFamily="34" charset="0"/>
                <a:ea typeface="Cambria" pitchFamily="34" charset="-122"/>
                <a:cs typeface="Cambria" pitchFamily="34" charset="-120"/>
              </a:rPr>
              <a:t>We refused to ship the thing that beats your metric.</a:t>
            </a:r>
            <a:endParaRPr lang="en-US" sz="3400" dirty="0"/>
          </a:p>
        </p:txBody>
      </p:sp>
      <p:sp>
        <p:nvSpPr>
          <p:cNvPr id="4" name="Text 2"/>
          <p:cNvSpPr/>
          <p:nvPr/>
        </p:nvSpPr>
        <p:spPr>
          <a:xfrm>
            <a:off x="548640" y="1691640"/>
            <a:ext cx="11064240" cy="640080"/>
          </a:xfrm>
          <a:prstGeom prst="rect">
            <a:avLst/>
          </a:prstGeom>
          <a:noFill/>
          <a:ln/>
        </p:spPr>
        <p:txBody>
          <a:bodyPr wrap="square" lIns="0" tIns="0" rIns="0" bIns="0" rtlCol="0" anchor="ctr"/>
          <a:lstStyle/>
          <a:p>
            <a:pPr indent="0" marL="0">
              <a:lnSpc>
                <a:spcPts val="1900"/>
              </a:lnSpc>
              <a:buNone/>
            </a:pPr>
            <a:r>
              <a:rPr lang="en-US" sz="1350" dirty="0">
                <a:solidFill>
                  <a:srgbClr val="A89F92"/>
                </a:solidFill>
                <a:latin typeface="Calibri" pitchFamily="34" charset="0"/>
                <a:ea typeface="Calibri" pitchFamily="34" charset="-122"/>
                <a:cs typeface="Calibri" pitchFamily="34" charset="-120"/>
              </a:rPr>
              <a:t>The risk-score criterion grades on RELATIVE error. Overstating a LOW costs 250%. Understating a CRITICAL costs 22%.</a:t>
            </a:r>
            <a:endParaRPr lang="en-US" sz="1350" dirty="0"/>
          </a:p>
          <a:p>
            <a:pPr indent="0" marL="0">
              <a:lnSpc>
                <a:spcPts val="1900"/>
              </a:lnSpc>
              <a:buNone/>
            </a:pPr>
            <a:r>
              <a:rPr lang="en-US" sz="1350" dirty="0">
                <a:solidFill>
                  <a:srgbClr val="A89F92"/>
                </a:solidFill>
                <a:latin typeface="Calibri" pitchFamily="34" charset="0"/>
                <a:ea typeface="Calibri" pitchFamily="34" charset="-122"/>
                <a:cs typeface="Calibri" pitchFamily="34" charset="-120"/>
              </a:rPr>
              <a:t>The mathematically optimal strategy is therefore to guess LOW on everything.</a:t>
            </a:r>
            <a:endParaRPr lang="en-US" sz="1350" dirty="0"/>
          </a:p>
        </p:txBody>
      </p:sp>
      <p:sp>
        <p:nvSpPr>
          <p:cNvPr id="5" name="Shape 3"/>
          <p:cNvSpPr/>
          <p:nvPr/>
        </p:nvSpPr>
        <p:spPr>
          <a:xfrm>
            <a:off x="548640" y="2560320"/>
            <a:ext cx="5440680" cy="1371600"/>
          </a:xfrm>
          <a:prstGeom prst="roundRect">
            <a:avLst>
              <a:gd name="adj" fmla="val 5333"/>
            </a:avLst>
          </a:prstGeom>
          <a:solidFill>
            <a:srgbClr val="1C1917"/>
          </a:solidFill>
          <a:ln/>
        </p:spPr>
      </p:sp>
      <p:sp>
        <p:nvSpPr>
          <p:cNvPr id="6" name="Text 4"/>
          <p:cNvSpPr/>
          <p:nvPr/>
        </p:nvSpPr>
        <p:spPr>
          <a:xfrm>
            <a:off x="868680" y="2724912"/>
            <a:ext cx="4754880" cy="274320"/>
          </a:xfrm>
          <a:prstGeom prst="rect">
            <a:avLst/>
          </a:prstGeom>
          <a:noFill/>
          <a:ln/>
        </p:spPr>
        <p:txBody>
          <a:bodyPr wrap="square" lIns="0" tIns="0" rIns="0" bIns="0" rtlCol="0" anchor="ctr"/>
          <a:lstStyle/>
          <a:p>
            <a:pPr indent="0" marL="0">
              <a:buNone/>
            </a:pPr>
            <a:r>
              <a:rPr lang="en-US" sz="1200" b="1" dirty="0">
                <a:solidFill>
                  <a:srgbClr val="A89F92"/>
                </a:solidFill>
                <a:latin typeface="Calibri" pitchFamily="34" charset="0"/>
                <a:ea typeface="Calibri" pitchFamily="34" charset="-122"/>
                <a:cs typeface="Calibri" pitchFamily="34" charset="-120"/>
              </a:rPr>
              <a:t>What we ship</a:t>
            </a:r>
            <a:endParaRPr lang="en-US" sz="1200" dirty="0"/>
          </a:p>
        </p:txBody>
      </p:sp>
      <p:sp>
        <p:nvSpPr>
          <p:cNvPr id="7" name="Text 5"/>
          <p:cNvSpPr/>
          <p:nvPr/>
        </p:nvSpPr>
        <p:spPr>
          <a:xfrm>
            <a:off x="868680" y="3035808"/>
            <a:ext cx="2194560" cy="502920"/>
          </a:xfrm>
          <a:prstGeom prst="rect">
            <a:avLst/>
          </a:prstGeom>
          <a:noFill/>
          <a:ln/>
        </p:spPr>
        <p:txBody>
          <a:bodyPr wrap="square" lIns="0" tIns="0" rIns="0" bIns="0" rtlCol="0" anchor="ctr"/>
          <a:lstStyle/>
          <a:p>
            <a:pPr indent="0" marL="0">
              <a:buNone/>
            </a:pPr>
            <a:r>
              <a:rPr lang="en-US" sz="2600" b="1" dirty="0">
                <a:solidFill>
                  <a:srgbClr val="F2EEE7"/>
                </a:solidFill>
                <a:latin typeface="Cambria" pitchFamily="34" charset="0"/>
                <a:ea typeface="Cambria" pitchFamily="34" charset="-122"/>
                <a:cs typeface="Cambria" pitchFamily="34" charset="-120"/>
              </a:rPr>
              <a:t>±14.8%</a:t>
            </a:r>
            <a:endParaRPr lang="en-US" sz="2600" dirty="0"/>
          </a:p>
        </p:txBody>
      </p:sp>
      <p:sp>
        <p:nvSpPr>
          <p:cNvPr id="8" name="Text 6"/>
          <p:cNvSpPr/>
          <p:nvPr/>
        </p:nvSpPr>
        <p:spPr>
          <a:xfrm>
            <a:off x="3200400" y="3182112"/>
            <a:ext cx="2560320" cy="274320"/>
          </a:xfrm>
          <a:prstGeom prst="rect">
            <a:avLst/>
          </a:prstGeom>
          <a:noFill/>
          <a:ln/>
        </p:spPr>
        <p:txBody>
          <a:bodyPr wrap="square" lIns="0" tIns="0" rIns="0" bIns="0" rtlCol="0" anchor="ctr"/>
          <a:lstStyle/>
          <a:p>
            <a:pPr indent="0" marL="0">
              <a:buNone/>
            </a:pPr>
            <a:r>
              <a:rPr lang="en-US" sz="1100" dirty="0">
                <a:solidFill>
                  <a:srgbClr val="7E766A"/>
                </a:solidFill>
                <a:latin typeface="Calibri" pitchFamily="34" charset="0"/>
                <a:ea typeface="Calibri" pitchFamily="34" charset="-122"/>
                <a:cs typeface="Calibri" pitchFamily="34" charset="-120"/>
              </a:rPr>
              <a:t>Bayes-optimal, honest</a:t>
            </a:r>
            <a:endParaRPr lang="en-US" sz="1100" dirty="0"/>
          </a:p>
        </p:txBody>
      </p:sp>
      <p:sp>
        <p:nvSpPr>
          <p:cNvPr id="9" name="Shape 7"/>
          <p:cNvSpPr/>
          <p:nvPr/>
        </p:nvSpPr>
        <p:spPr>
          <a:xfrm>
            <a:off x="6172200" y="2560320"/>
            <a:ext cx="5440680" cy="1371600"/>
          </a:xfrm>
          <a:prstGeom prst="roundRect">
            <a:avLst>
              <a:gd name="adj" fmla="val 5333"/>
            </a:avLst>
          </a:prstGeom>
          <a:solidFill>
            <a:srgbClr val="272220"/>
          </a:solidFill>
          <a:ln/>
        </p:spPr>
      </p:sp>
      <p:sp>
        <p:nvSpPr>
          <p:cNvPr id="10" name="Text 8"/>
          <p:cNvSpPr/>
          <p:nvPr/>
        </p:nvSpPr>
        <p:spPr>
          <a:xfrm>
            <a:off x="6492240" y="2724912"/>
            <a:ext cx="4754880" cy="274320"/>
          </a:xfrm>
          <a:prstGeom prst="rect">
            <a:avLst/>
          </a:prstGeom>
          <a:noFill/>
          <a:ln/>
        </p:spPr>
        <p:txBody>
          <a:bodyPr wrap="square" lIns="0" tIns="0" rIns="0" bIns="0" rtlCol="0" anchor="ctr"/>
          <a:lstStyle/>
          <a:p>
            <a:pPr indent="0" marL="0">
              <a:buNone/>
            </a:pPr>
            <a:r>
              <a:rPr lang="en-US" sz="1200" b="1" dirty="0">
                <a:solidFill>
                  <a:srgbClr val="FF5D5D"/>
                </a:solidFill>
                <a:latin typeface="Calibri" pitchFamily="34" charset="0"/>
                <a:ea typeface="Calibri" pitchFamily="34" charset="-122"/>
                <a:cs typeface="Calibri" pitchFamily="34" charset="-120"/>
              </a:rPr>
              <a:t>What would score better</a:t>
            </a:r>
            <a:endParaRPr lang="en-US" sz="1200" dirty="0"/>
          </a:p>
        </p:txBody>
      </p:sp>
      <p:sp>
        <p:nvSpPr>
          <p:cNvPr id="11" name="Text 9"/>
          <p:cNvSpPr/>
          <p:nvPr/>
        </p:nvSpPr>
        <p:spPr>
          <a:xfrm>
            <a:off x="6492240" y="3035808"/>
            <a:ext cx="2194560" cy="502920"/>
          </a:xfrm>
          <a:prstGeom prst="rect">
            <a:avLst/>
          </a:prstGeom>
          <a:noFill/>
          <a:ln/>
        </p:spPr>
        <p:txBody>
          <a:bodyPr wrap="square" lIns="0" tIns="0" rIns="0" bIns="0" rtlCol="0" anchor="ctr"/>
          <a:lstStyle/>
          <a:p>
            <a:pPr indent="0" marL="0">
              <a:buNone/>
            </a:pPr>
            <a:r>
              <a:rPr lang="en-US" sz="2600" b="1" dirty="0">
                <a:solidFill>
                  <a:srgbClr val="FF5D5D"/>
                </a:solidFill>
                <a:latin typeface="Cambria" pitchFamily="34" charset="0"/>
                <a:ea typeface="Cambria" pitchFamily="34" charset="-122"/>
                <a:cs typeface="Cambria" pitchFamily="34" charset="-120"/>
              </a:rPr>
              <a:t>±13.4%</a:t>
            </a:r>
            <a:endParaRPr lang="en-US" sz="2600" dirty="0"/>
          </a:p>
        </p:txBody>
      </p:sp>
      <p:sp>
        <p:nvSpPr>
          <p:cNvPr id="12" name="Text 10"/>
          <p:cNvSpPr/>
          <p:nvPr/>
        </p:nvSpPr>
        <p:spPr>
          <a:xfrm>
            <a:off x="8823960" y="3182112"/>
            <a:ext cx="2651760" cy="274320"/>
          </a:xfrm>
          <a:prstGeom prst="rect">
            <a:avLst/>
          </a:prstGeom>
          <a:noFill/>
          <a:ln/>
        </p:spPr>
        <p:txBody>
          <a:bodyPr wrap="square" lIns="0" tIns="0" rIns="0" bIns="0" rtlCol="0" anchor="ctr"/>
          <a:lstStyle/>
          <a:p>
            <a:pPr indent="0" marL="0">
              <a:buNone/>
            </a:pPr>
            <a:r>
              <a:rPr lang="en-US" sz="1100" dirty="0">
                <a:solidFill>
                  <a:srgbClr val="7E766A"/>
                </a:solidFill>
                <a:latin typeface="Calibri" pitchFamily="34" charset="0"/>
                <a:ea typeface="Calibri" pitchFamily="34" charset="-122"/>
                <a:cs typeface="Calibri" pitchFamily="34" charset="-120"/>
              </a:rPr>
              <a:t>Guess LOW. Game the loss.</a:t>
            </a:r>
            <a:endParaRPr lang="en-US" sz="1100" dirty="0"/>
          </a:p>
        </p:txBody>
      </p:sp>
      <p:sp>
        <p:nvSpPr>
          <p:cNvPr id="13" name="Shape 11"/>
          <p:cNvSpPr/>
          <p:nvPr/>
        </p:nvSpPr>
        <p:spPr>
          <a:xfrm>
            <a:off x="548640" y="4206240"/>
            <a:ext cx="11064240" cy="960120"/>
          </a:xfrm>
          <a:prstGeom prst="roundRect">
            <a:avLst>
              <a:gd name="adj" fmla="val 7619"/>
            </a:avLst>
          </a:prstGeom>
          <a:solidFill>
            <a:srgbClr val="272220"/>
          </a:solidFill>
          <a:ln/>
        </p:spPr>
      </p:sp>
      <p:sp>
        <p:nvSpPr>
          <p:cNvPr id="14" name="Text 12"/>
          <p:cNvSpPr/>
          <p:nvPr/>
        </p:nvSpPr>
        <p:spPr>
          <a:xfrm>
            <a:off x="868680" y="4206240"/>
            <a:ext cx="10424160" cy="960120"/>
          </a:xfrm>
          <a:prstGeom prst="rect">
            <a:avLst/>
          </a:prstGeom>
          <a:noFill/>
          <a:ln/>
        </p:spPr>
        <p:txBody>
          <a:bodyPr wrap="square" lIns="0" tIns="0" rIns="0" bIns="0" rtlCol="0" anchor="ctr"/>
          <a:lstStyle/>
          <a:p>
            <a:pPr indent="0" marL="0">
              <a:buNone/>
            </a:pPr>
            <a:r>
              <a:rPr lang="en-US" sz="1250" b="1" dirty="0">
                <a:solidFill>
                  <a:srgbClr val="FFC46B"/>
                </a:solidFill>
                <a:latin typeface="Courier New" pitchFamily="34" charset="0"/>
                <a:ea typeface="Courier New" pitchFamily="34" charset="-122"/>
                <a:cs typeface="Courier New" pitchFamily="34" charset="-120"/>
              </a:rPr>
              <a:t>MATCH MODE: optimistic  (guess LOW to beat the metric)   &lt;-- WE REFUSE TO SHIP THIS</a:t>
            </a:r>
            <a:endParaRPr lang="en-US" sz="1250" dirty="0"/>
          </a:p>
        </p:txBody>
      </p:sp>
      <p:sp>
        <p:nvSpPr>
          <p:cNvPr id="15" name="Text 13"/>
          <p:cNvSpPr/>
          <p:nvPr/>
        </p:nvSpPr>
        <p:spPr>
          <a:xfrm>
            <a:off x="548640" y="5230368"/>
            <a:ext cx="11064240" cy="274320"/>
          </a:xfrm>
          <a:prstGeom prst="rect">
            <a:avLst/>
          </a:prstGeom>
          <a:noFill/>
          <a:ln/>
        </p:spPr>
        <p:txBody>
          <a:bodyPr wrap="square" lIns="0" tIns="0" rIns="0" bIns="0" rtlCol="0" anchor="ctr"/>
          <a:lstStyle/>
          <a:p>
            <a:pPr indent="0" marL="0">
              <a:buNone/>
            </a:pPr>
            <a:r>
              <a:rPr lang="en-US" sz="1100" i="1" dirty="0">
                <a:solidFill>
                  <a:srgbClr val="7E766A"/>
                </a:solidFill>
                <a:latin typeface="Calibri" pitchFamily="34" charset="0"/>
                <a:ea typeface="Calibri" pitchFamily="34" charset="-122"/>
                <a:cs typeface="Calibri" pitchFamily="34" charset="-120"/>
              </a:rPr>
              <a:t>— printed by our own evaluation harness, every run</a:t>
            </a:r>
            <a:endParaRPr lang="en-US" sz="1100" dirty="0"/>
          </a:p>
        </p:txBody>
      </p:sp>
      <p:sp>
        <p:nvSpPr>
          <p:cNvPr id="16" name="Text 14"/>
          <p:cNvSpPr/>
          <p:nvPr/>
        </p:nvSpPr>
        <p:spPr>
          <a:xfrm>
            <a:off x="548640" y="5715000"/>
            <a:ext cx="11064240" cy="685800"/>
          </a:xfrm>
          <a:prstGeom prst="rect">
            <a:avLst/>
          </a:prstGeom>
          <a:noFill/>
          <a:ln/>
        </p:spPr>
        <p:txBody>
          <a:bodyPr wrap="square" lIns="0" tIns="0" rIns="0" bIns="0" rtlCol="0" anchor="ctr"/>
          <a:lstStyle/>
          <a:p>
            <a:pPr indent="0" marL="0">
              <a:lnSpc>
                <a:spcPts val="2100"/>
              </a:lnSpc>
              <a:buNone/>
            </a:pPr>
            <a:r>
              <a:rPr lang="en-US" sz="1400" b="1" dirty="0">
                <a:solidFill>
                  <a:srgbClr val="F2EEE7"/>
                </a:solidFill>
                <a:latin typeface="Cambria" pitchFamily="34" charset="0"/>
                <a:ea typeface="Cambria" pitchFamily="34" charset="-122"/>
                <a:cs typeface="Cambria" pitchFamily="34" charset="-120"/>
              </a:rPr>
              <a:t>A scanner that under-reports severity to flatter a scorecard is the precise failure this problem statement exists to prevent.</a:t>
            </a:r>
            <a:endParaRPr lang="en-US" sz="1400" dirty="0"/>
          </a:p>
          <a:p>
            <a:pPr indent="0" marL="0">
              <a:lnSpc>
                <a:spcPts val="2100"/>
              </a:lnSpc>
              <a:buNone/>
            </a:pPr>
            <a:r>
              <a:rPr lang="en-US" sz="1400" b="1" dirty="0">
                <a:solidFill>
                  <a:srgbClr val="F2EEE7"/>
                </a:solidFill>
                <a:latin typeface="Cambria" pitchFamily="34" charset="0"/>
                <a:ea typeface="Cambria" pitchFamily="34" charset="-122"/>
                <a:cs typeface="Cambria" pitchFamily="34" charset="-120"/>
              </a:rPr>
              <a:t>We are not going to commit it in order to win a point.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00F"/>
        </a:solidFill>
      </p:bgPr>
    </p:bg>
    <p:spTree>
      <p:nvGrpSpPr>
        <p:cNvPr id="1" name=""/>
        <p:cNvGrpSpPr/>
        <p:nvPr/>
      </p:nvGrpSpPr>
      <p:grpSpPr>
        <a:xfrm>
          <a:off x="0" y="0"/>
          <a:ext cx="0" cy="0"/>
          <a:chOff x="0" y="0"/>
          <a:chExt cx="0" cy="0"/>
        </a:xfrm>
      </p:grpSpPr>
      <p:sp>
        <p:nvSpPr>
          <p:cNvPr id="2" name="Shape 0"/>
          <p:cNvSpPr/>
          <p:nvPr/>
        </p:nvSpPr>
        <p:spPr>
          <a:xfrm>
            <a:off x="8595360" y="3108960"/>
            <a:ext cx="5852160" cy="5852160"/>
          </a:xfrm>
          <a:prstGeom prst="ellipse">
            <a:avLst/>
          </a:prstGeom>
          <a:solidFill>
            <a:srgbClr val="FF7A3D">
              <a:alpha val="7000"/>
            </a:srgbClr>
          </a:solidFill>
          <a:ln/>
        </p:spPr>
      </p:sp>
      <p:sp>
        <p:nvSpPr>
          <p:cNvPr id="3" name="Text 1"/>
          <p:cNvSpPr/>
          <p:nvPr/>
        </p:nvSpPr>
        <p:spPr>
          <a:xfrm>
            <a:off x="822960" y="1417320"/>
            <a:ext cx="10241280" cy="1097280"/>
          </a:xfrm>
          <a:prstGeom prst="rect">
            <a:avLst/>
          </a:prstGeom>
          <a:noFill/>
          <a:ln/>
        </p:spPr>
        <p:txBody>
          <a:bodyPr wrap="square" lIns="0" tIns="0" rIns="0" bIns="0" rtlCol="0" anchor="ctr"/>
          <a:lstStyle/>
          <a:p>
            <a:pPr indent="0" marL="0">
              <a:lnSpc>
                <a:spcPts val="3800"/>
              </a:lnSpc>
              <a:buNone/>
            </a:pPr>
            <a:r>
              <a:rPr lang="en-US" sz="2700" dirty="0">
                <a:solidFill>
                  <a:srgbClr val="A89F92"/>
                </a:solidFill>
                <a:latin typeface="Cambria" pitchFamily="34" charset="0"/>
                <a:ea typeface="Cambria" pitchFamily="34" charset="-122"/>
                <a:cs typeface="Cambria" pitchFamily="34" charset="-120"/>
              </a:rPr>
              <a:t>Everyone will show you a tool</a:t>
            </a:r>
            <a:endParaRPr lang="en-US" sz="2700" dirty="0"/>
          </a:p>
          <a:p>
            <a:pPr indent="0" marL="0">
              <a:lnSpc>
                <a:spcPts val="3800"/>
              </a:lnSpc>
              <a:buNone/>
            </a:pPr>
            <a:r>
              <a:rPr lang="en-US" sz="2700" dirty="0">
                <a:solidFill>
                  <a:srgbClr val="A89F92"/>
                </a:solidFill>
                <a:latin typeface="Cambria" pitchFamily="34" charset="0"/>
                <a:ea typeface="Cambria" pitchFamily="34" charset="-122"/>
                <a:cs typeface="Cambria" pitchFamily="34" charset="-120"/>
              </a:rPr>
              <a:t>that lists what is in an SBOM.</a:t>
            </a:r>
            <a:endParaRPr lang="en-US" sz="2700" dirty="0"/>
          </a:p>
        </p:txBody>
      </p:sp>
      <p:sp>
        <p:nvSpPr>
          <p:cNvPr id="4" name="Text 2"/>
          <p:cNvSpPr/>
          <p:nvPr/>
        </p:nvSpPr>
        <p:spPr>
          <a:xfrm>
            <a:off x="822960" y="2697480"/>
            <a:ext cx="10241280" cy="1097280"/>
          </a:xfrm>
          <a:prstGeom prst="rect">
            <a:avLst/>
          </a:prstGeom>
          <a:noFill/>
          <a:ln/>
        </p:spPr>
        <p:txBody>
          <a:bodyPr wrap="square" lIns="0" tIns="0" rIns="0" bIns="0" rtlCol="0" anchor="ctr"/>
          <a:lstStyle/>
          <a:p>
            <a:pPr indent="0" marL="0">
              <a:lnSpc>
                <a:spcPts val="3800"/>
              </a:lnSpc>
              <a:buNone/>
            </a:pPr>
            <a:r>
              <a:rPr lang="en-US" sz="2700" b="1" dirty="0">
                <a:solidFill>
                  <a:srgbClr val="F2EEE7"/>
                </a:solidFill>
                <a:latin typeface="Cambria" pitchFamily="34" charset="0"/>
                <a:ea typeface="Cambria" pitchFamily="34" charset="-122"/>
                <a:cs typeface="Cambria" pitchFamily="34" charset="-120"/>
              </a:rPr>
              <a:t>This one tells you which applications are</a:t>
            </a:r>
            <a:endParaRPr lang="en-US" sz="2700" dirty="0"/>
          </a:p>
          <a:p>
            <a:pPr indent="0" marL="0">
              <a:lnSpc>
                <a:spcPts val="3800"/>
              </a:lnSpc>
              <a:buNone/>
            </a:pPr>
            <a:r>
              <a:rPr lang="en-US" sz="2700" b="1" dirty="0">
                <a:solidFill>
                  <a:srgbClr val="F2EEE7"/>
                </a:solidFill>
                <a:latin typeface="Cambria" pitchFamily="34" charset="0"/>
                <a:ea typeface="Cambria" pitchFamily="34" charset="-122"/>
                <a:cs typeface="Cambria" pitchFamily="34" charset="-120"/>
              </a:rPr>
              <a:t>actually hit, and how it got in.</a:t>
            </a:r>
            <a:endParaRPr lang="en-US" sz="2700" dirty="0"/>
          </a:p>
        </p:txBody>
      </p:sp>
      <p:sp>
        <p:nvSpPr>
          <p:cNvPr id="5" name="Text 3"/>
          <p:cNvSpPr/>
          <p:nvPr/>
        </p:nvSpPr>
        <p:spPr>
          <a:xfrm>
            <a:off x="822960" y="3977640"/>
            <a:ext cx="10241280" cy="731520"/>
          </a:xfrm>
          <a:prstGeom prst="rect">
            <a:avLst/>
          </a:prstGeom>
          <a:noFill/>
          <a:ln/>
        </p:spPr>
        <p:txBody>
          <a:bodyPr wrap="square" lIns="0" tIns="0" rIns="0" bIns="0" rtlCol="0" anchor="ctr"/>
          <a:lstStyle/>
          <a:p>
            <a:pPr indent="0" marL="0">
              <a:lnSpc>
                <a:spcPts val="2100"/>
              </a:lnSpc>
              <a:buNone/>
            </a:pPr>
            <a:r>
              <a:rPr lang="en-US" sz="1400" dirty="0">
                <a:solidFill>
                  <a:srgbClr val="FF7A3D"/>
                </a:solidFill>
                <a:latin typeface="Calibri" pitchFamily="34" charset="0"/>
                <a:ea typeface="Calibri" pitchFamily="34" charset="-122"/>
                <a:cs typeface="Calibri" pitchFamily="34" charset="-120"/>
              </a:rPr>
              <a:t>And when we pointed it at the real data, it found that the data contradicts itself,</a:t>
            </a:r>
            <a:endParaRPr lang="en-US" sz="1400" dirty="0"/>
          </a:p>
          <a:p>
            <a:pPr indent="0" marL="0">
              <a:lnSpc>
                <a:spcPts val="2100"/>
              </a:lnSpc>
              <a:buNone/>
            </a:pPr>
            <a:r>
              <a:rPr lang="en-US" sz="1400" dirty="0">
                <a:solidFill>
                  <a:srgbClr val="FF7A3D"/>
                </a:solidFill>
                <a:latin typeface="Calibri" pitchFamily="34" charset="0"/>
                <a:ea typeface="Calibri" pitchFamily="34" charset="-122"/>
                <a:cs typeface="Calibri" pitchFamily="34" charset="-120"/>
              </a:rPr>
              <a:t>proved it, and said so on the front page — instead of quietly scoring 26%.</a:t>
            </a:r>
            <a:endParaRPr lang="en-US" sz="1400" dirty="0"/>
          </a:p>
        </p:txBody>
      </p:sp>
      <p:sp>
        <p:nvSpPr>
          <p:cNvPr id="6" name="Text 4"/>
          <p:cNvSpPr/>
          <p:nvPr/>
        </p:nvSpPr>
        <p:spPr>
          <a:xfrm>
            <a:off x="822960" y="5074920"/>
            <a:ext cx="1737360" cy="274320"/>
          </a:xfrm>
          <a:prstGeom prst="rect">
            <a:avLst/>
          </a:prstGeom>
          <a:noFill/>
          <a:ln/>
        </p:spPr>
        <p:txBody>
          <a:bodyPr wrap="square" lIns="0" tIns="0" rIns="0" bIns="0" rtlCol="0" anchor="ctr"/>
          <a:lstStyle/>
          <a:p>
            <a:pPr indent="0" marL="0">
              <a:buNone/>
            </a:pPr>
            <a:r>
              <a:rPr lang="en-US" sz="1000" b="1" spc="100" kern="0" dirty="0">
                <a:solidFill>
                  <a:srgbClr val="7E766A"/>
                </a:solidFill>
                <a:latin typeface="Calibri" pitchFamily="34" charset="0"/>
                <a:ea typeface="Calibri" pitchFamily="34" charset="-122"/>
                <a:cs typeface="Calibri" pitchFamily="34" charset="-120"/>
              </a:rPr>
              <a:t>SUBMITTED BY</a:t>
            </a:r>
            <a:endParaRPr lang="en-US" sz="1000" dirty="0"/>
          </a:p>
        </p:txBody>
      </p:sp>
      <p:sp>
        <p:nvSpPr>
          <p:cNvPr id="7" name="Text 5"/>
          <p:cNvSpPr/>
          <p:nvPr/>
        </p:nvSpPr>
        <p:spPr>
          <a:xfrm>
            <a:off x="2651760" y="5074920"/>
            <a:ext cx="8412480" cy="274320"/>
          </a:xfrm>
          <a:prstGeom prst="rect">
            <a:avLst/>
          </a:prstGeom>
          <a:noFill/>
          <a:ln/>
        </p:spPr>
        <p:txBody>
          <a:bodyPr wrap="square" lIns="0" tIns="0" rIns="0" bIns="0" rtlCol="0" anchor="ctr"/>
          <a:lstStyle/>
          <a:p>
            <a:pPr indent="0" marL="0">
              <a:buNone/>
            </a:pPr>
            <a:r>
              <a:rPr lang="en-US" sz="1150" dirty="0">
                <a:solidFill>
                  <a:srgbClr val="A89F92"/>
                </a:solidFill>
                <a:latin typeface="Courier New" pitchFamily="34" charset="0"/>
                <a:ea typeface="Courier New" pitchFamily="34" charset="-122"/>
                <a:cs typeface="Courier New" pitchFamily="34" charset="-120"/>
              </a:rPr>
              <a:t>Harish HJ (23PC19)   ·   S Murali Krishna (23PC31)</a:t>
            </a:r>
            <a:endParaRPr lang="en-US" sz="1150" dirty="0"/>
          </a:p>
        </p:txBody>
      </p:sp>
      <p:sp>
        <p:nvSpPr>
          <p:cNvPr id="8" name="Text 6"/>
          <p:cNvSpPr/>
          <p:nvPr/>
        </p:nvSpPr>
        <p:spPr>
          <a:xfrm>
            <a:off x="822960" y="5458968"/>
            <a:ext cx="1737360" cy="274320"/>
          </a:xfrm>
          <a:prstGeom prst="rect">
            <a:avLst/>
          </a:prstGeom>
          <a:noFill/>
          <a:ln/>
        </p:spPr>
        <p:txBody>
          <a:bodyPr wrap="square" lIns="0" tIns="0" rIns="0" bIns="0" rtlCol="0" anchor="ctr"/>
          <a:lstStyle/>
          <a:p>
            <a:pPr indent="0" marL="0">
              <a:buNone/>
            </a:pPr>
            <a:r>
              <a:rPr lang="en-US" sz="1000" b="1" spc="100" kern="0" dirty="0">
                <a:solidFill>
                  <a:srgbClr val="7E766A"/>
                </a:solidFill>
                <a:latin typeface="Calibri" pitchFamily="34" charset="0"/>
                <a:ea typeface="Calibri" pitchFamily="34" charset="-122"/>
                <a:cs typeface="Calibri" pitchFamily="34" charset="-120"/>
              </a:rPr>
              <a:t>REPOSITORY</a:t>
            </a:r>
            <a:endParaRPr lang="en-US" sz="1000" dirty="0"/>
          </a:p>
        </p:txBody>
      </p:sp>
      <p:sp>
        <p:nvSpPr>
          <p:cNvPr id="9" name="Text 7"/>
          <p:cNvSpPr/>
          <p:nvPr/>
        </p:nvSpPr>
        <p:spPr>
          <a:xfrm>
            <a:off x="2651760" y="5458968"/>
            <a:ext cx="8412480" cy="274320"/>
          </a:xfrm>
          <a:prstGeom prst="rect">
            <a:avLst/>
          </a:prstGeom>
          <a:noFill/>
          <a:ln/>
        </p:spPr>
        <p:txBody>
          <a:bodyPr wrap="square" lIns="0" tIns="0" rIns="0" bIns="0" rtlCol="0" anchor="ctr"/>
          <a:lstStyle/>
          <a:p>
            <a:pPr indent="0" marL="0">
              <a:buNone/>
            </a:pPr>
            <a:r>
              <a:rPr lang="en-US" sz="1150" dirty="0">
                <a:solidFill>
                  <a:srgbClr val="A89F92"/>
                </a:solidFill>
                <a:latin typeface="Courier New" pitchFamily="34" charset="0"/>
                <a:ea typeface="Courier New" pitchFamily="34" charset="-122"/>
                <a:cs typeface="Courier New" pitchFamily="34" charset="-120"/>
              </a:rPr>
              <a:t>github.com/harish-88279/SG-Hackathon</a:t>
            </a:r>
            <a:endParaRPr lang="en-US" sz="1150" dirty="0"/>
          </a:p>
        </p:txBody>
      </p:sp>
      <p:sp>
        <p:nvSpPr>
          <p:cNvPr id="10" name="Text 8"/>
          <p:cNvSpPr/>
          <p:nvPr/>
        </p:nvSpPr>
        <p:spPr>
          <a:xfrm>
            <a:off x="822960" y="5843016"/>
            <a:ext cx="1737360" cy="274320"/>
          </a:xfrm>
          <a:prstGeom prst="rect">
            <a:avLst/>
          </a:prstGeom>
          <a:noFill/>
          <a:ln/>
        </p:spPr>
        <p:txBody>
          <a:bodyPr wrap="square" lIns="0" tIns="0" rIns="0" bIns="0" rtlCol="0" anchor="ctr"/>
          <a:lstStyle/>
          <a:p>
            <a:pPr indent="0" marL="0">
              <a:buNone/>
            </a:pPr>
            <a:r>
              <a:rPr lang="en-US" sz="1000" b="1" spc="100" kern="0" dirty="0">
                <a:solidFill>
                  <a:srgbClr val="7E766A"/>
                </a:solidFill>
                <a:latin typeface="Calibri" pitchFamily="34" charset="0"/>
                <a:ea typeface="Calibri" pitchFamily="34" charset="-122"/>
                <a:cs typeface="Calibri" pitchFamily="34" charset="-120"/>
              </a:rPr>
              <a:t>RUN IT</a:t>
            </a:r>
            <a:endParaRPr lang="en-US" sz="1000" dirty="0"/>
          </a:p>
        </p:txBody>
      </p:sp>
      <p:sp>
        <p:nvSpPr>
          <p:cNvPr id="11" name="Text 9"/>
          <p:cNvSpPr/>
          <p:nvPr/>
        </p:nvSpPr>
        <p:spPr>
          <a:xfrm>
            <a:off x="2651760" y="5843016"/>
            <a:ext cx="8412480" cy="274320"/>
          </a:xfrm>
          <a:prstGeom prst="rect">
            <a:avLst/>
          </a:prstGeom>
          <a:noFill/>
          <a:ln/>
        </p:spPr>
        <p:txBody>
          <a:bodyPr wrap="square" lIns="0" tIns="0" rIns="0" bIns="0" rtlCol="0" anchor="ctr"/>
          <a:lstStyle/>
          <a:p>
            <a:pPr indent="0" marL="0">
              <a:buNone/>
            </a:pPr>
            <a:r>
              <a:rPr lang="en-US" sz="1150" dirty="0">
                <a:solidFill>
                  <a:srgbClr val="A89F92"/>
                </a:solidFill>
                <a:latin typeface="Courier New" pitchFamily="34" charset="0"/>
                <a:ea typeface="Courier New" pitchFamily="34" charset="-122"/>
                <a:cs typeface="Courier New" pitchFamily="34" charset="-120"/>
              </a:rPr>
              <a:t>start.bat   →   localhost:8000</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SBOMGuard — SG GRC Hackathon PB-10</dc:title>
  <dc:subject>PptxGenJS Presentation</dc:subject>
  <dc:creator>Harish HJ · S Murali Krishna</dc:creator>
  <cp:lastModifiedBy>Harish HJ · S Murali Krishna</cp:lastModifiedBy>
  <cp:revision>1</cp:revision>
  <dcterms:created xsi:type="dcterms:W3CDTF">2026-07-12T18:04:04Z</dcterms:created>
  <dcterms:modified xsi:type="dcterms:W3CDTF">2026-07-12T18:04:04Z</dcterms:modified>
</cp:coreProperties>
</file>